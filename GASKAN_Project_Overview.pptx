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0B8D1-22B8-582B-6A46-A77FADDEFE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22BADC-E0C5-60F6-327C-F0BCB07FD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E748F-44EC-FB14-FEAF-E4C7F116D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DEBB4-96EA-BAE0-9A0E-EA70C404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1F20-C79B-FC5A-476D-C2ACB960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475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C57FA-ABED-9B68-51AF-18A677FAB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1F930-E17F-39D3-251F-9F29C8D86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58BBDE-F892-E934-60C7-F62EB934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74510-A992-75B6-B9A1-0C9ACE24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909BD-79EC-4541-EA55-50F23EDC8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1656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DE1F-849D-BD70-C0EF-CF5FF2514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130D0F-2294-13CA-59A9-0B4A7BBAA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22595-BDB1-0F0B-BA32-AE25824B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F6527-A3CF-FC1F-5617-B48E4CBE3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717F89-7F23-700D-606D-515345EA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7295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993E-C8C1-E675-024B-A727D2C4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A35C3-840B-F5C9-9E60-D475A1A30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AC6A4-3637-5DFB-D5CF-6726E14A2E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8EEE9-A246-E020-3A83-E44CB901F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1839F1-512C-C60D-50D4-32803DFE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02CDC-5197-E092-202D-3EAA3F00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278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99AAB-896F-33FF-B913-336EC215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8A603E-4A68-3E7F-FF2C-B84BC41C4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EB3C4-7ADC-53BB-917E-25AA56465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BC8494-9B63-4E8B-A611-94C3B3CCC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2B688D-A17F-4588-B8FE-E11FF9186F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9E2420-ABAB-AB72-4BCF-0A9FC3EF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C27040-EFDB-28D0-F2E6-77C181FDA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88A391-7269-9026-209F-E4CCA221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181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2675B-545D-32DA-C349-20AD65F88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5976A1-F0BB-7A8C-E76A-B4C0974E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75D23-0F47-7FFB-9CD1-85C39F500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E6294-BEAB-8DEB-BD4F-62A6B3F7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9764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A6CFBE-B003-6458-F5A7-BB00D045D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FB6A3-9D3E-1BF7-DE27-58F6DB08B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D7ED2-1CBB-0813-4F3A-17761082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75312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195B-E9E2-626C-F2FE-C65594B62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FC724E-1489-932E-D0C2-F0ED65085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E238-EEEE-3D88-004B-3EB495B5C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B3057-4EF7-CA07-4193-11807920D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8D168-A246-E7EA-F4D2-1B82E303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78DF98-EBF7-9473-2708-1FE953E88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01091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CFB30-2119-7693-276A-47C9CC4E0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6A81FC-0606-D8E6-F638-FC0ADA0736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BF81B-73EC-7CE9-9288-53F35762B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96A23-F2BC-E90A-BEB8-566C87131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9B884-2E50-D7C0-B2A1-CB855F57E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176C11-9AA5-3680-D3D1-D24C1BCEC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8735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353D-0D3F-6379-FB15-3770ABA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258F4-C970-20EA-4A57-C831ADBCE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9AF55-3224-71D6-711C-4F55B6F6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A3AB6-05BB-25ED-AA50-9070577C4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709C8-EE11-6A3F-90B1-2A3A5ADE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626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CBC03-59D8-9EFE-E3B6-EAB37BBB7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8216E-8EF6-33BF-F012-F7F846F3F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40133-40C7-4FB3-D708-6AF12601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DE3D0-F726-6B2A-E172-35E80A852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DC51D-F39A-642A-88CB-3C3B3BB5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18591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3B3E51-8798-6CBD-10B4-AF6131F6A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31E72-7C5F-E74B-E25D-19D88DD80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1FAF0-16E7-BD30-7182-701A23C70E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FB804-6A17-464C-874F-BFE4C6A859C7}" type="datetimeFigureOut">
              <a:rPr lang="en-ID" smtClean="0"/>
              <a:t>24/07/2026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CD0B2-E9C0-22F2-A073-2469E00FD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93702-3C04-5C67-7849-6100BF011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EC4B1B-D8F6-45F6-AFD3-B49B75EB944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84754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3D6C52-9129-EDAB-783A-967022D86F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DCF19F-512D-6630-A5C7-AF8A16016E69}"/>
              </a:ext>
            </a:extLst>
          </p:cNvPr>
          <p:cNvSpPr/>
          <p:nvPr/>
        </p:nvSpPr>
        <p:spPr>
          <a:xfrm>
            <a:off x="0" y="9144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6D2BCB-5E2A-9CD6-8FAB-0C3E7CC84013}"/>
              </a:ext>
            </a:extLst>
          </p:cNvPr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894463-88F5-1C20-D339-C14115A8875F}"/>
              </a:ext>
            </a:extLst>
          </p:cNvPr>
          <p:cNvSpPr txBox="1"/>
          <p:nvPr/>
        </p:nvSpPr>
        <p:spPr>
          <a:xfrm>
            <a:off x="736600" y="711200"/>
            <a:ext cx="7620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SISTEM ABSENSI DIGITAL SMTI YOGYAKARTA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3B2F21-9904-4AA9-0BCA-B95681597113}"/>
              </a:ext>
            </a:extLst>
          </p:cNvPr>
          <p:cNvSpPr txBox="1"/>
          <p:nvPr/>
        </p:nvSpPr>
        <p:spPr>
          <a:xfrm>
            <a:off x="685800" y="1422400"/>
            <a:ext cx="7747000" cy="94384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5800" b="1">
                <a:solidFill>
                  <a:srgbClr val="F8F9FB"/>
                </a:solidFill>
                <a:latin typeface="Aptos" panose="020B0004020202020204" pitchFamily="34" charset="0"/>
              </a:rPr>
              <a:t>GASKAN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6B5836-D67A-9D63-8A00-D587268CCC9D}"/>
              </a:ext>
            </a:extLst>
          </p:cNvPr>
          <p:cNvSpPr txBox="1"/>
          <p:nvPr/>
        </p:nvSpPr>
        <p:spPr>
          <a:xfrm>
            <a:off x="736600" y="2540000"/>
            <a:ext cx="7112000" cy="91307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de-DE" sz="2800" b="1">
                <a:solidFill>
                  <a:srgbClr val="F8F9FB"/>
                </a:solidFill>
                <a:latin typeface="Aptos" panose="020B0004020202020204" pitchFamily="34" charset="0"/>
              </a:rPr>
              <a:t>Sistem Absensi Digital
dan Kehadiran</a:t>
            </a:r>
            <a:endParaRPr lang="en-ID" sz="28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B2141-B7C4-6FB2-E52C-69047EEE3F94}"/>
              </a:ext>
            </a:extLst>
          </p:cNvPr>
          <p:cNvSpPr txBox="1"/>
          <p:nvPr/>
        </p:nvSpPr>
        <p:spPr>
          <a:xfrm>
            <a:off x="762000" y="4000500"/>
            <a:ext cx="6858000" cy="54373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1600">
                <a:solidFill>
                  <a:srgbClr val="AEB5C1"/>
                </a:solidFill>
                <a:latin typeface="Aptos" panose="020B0004020202020204" pitchFamily="34" charset="0"/>
              </a:rPr>
              <a:t>Dari mesin absensi menjadi sumber data kehadiran yang real-time, terukur, dan dapat ditindaklanjuti.</a:t>
            </a:r>
            <a:endParaRPr lang="en-ID" sz="16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2C6051B-2DCE-057D-EF6A-B11B4521632C}"/>
              </a:ext>
            </a:extLst>
          </p:cNvPr>
          <p:cNvSpPr/>
          <p:nvPr/>
        </p:nvSpPr>
        <p:spPr>
          <a:xfrm>
            <a:off x="762000" y="5245100"/>
            <a:ext cx="2603500" cy="533400"/>
          </a:xfrm>
          <a:prstGeom prst="roundRect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A6D12-576B-05D7-BFD8-14F4192C72D0}"/>
              </a:ext>
            </a:extLst>
          </p:cNvPr>
          <p:cNvSpPr txBox="1"/>
          <p:nvPr/>
        </p:nvSpPr>
        <p:spPr>
          <a:xfrm>
            <a:off x="762000" y="5397500"/>
            <a:ext cx="260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100" b="1">
                <a:solidFill>
                  <a:srgbClr val="0B0E14"/>
                </a:solidFill>
                <a:latin typeface="Aptos" panose="020B0004020202020204" pitchFamily="34" charset="0"/>
              </a:rPr>
              <a:t>PROJECT OVERVIEW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1A7757-164E-DA8F-1C9F-1D804DAF4206}"/>
              </a:ext>
            </a:extLst>
          </p:cNvPr>
          <p:cNvSpPr/>
          <p:nvPr/>
        </p:nvSpPr>
        <p:spPr>
          <a:xfrm>
            <a:off x="8509000" y="965200"/>
            <a:ext cx="2667000" cy="4292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B1A9BA-B001-E067-4C32-97844020894E}"/>
              </a:ext>
            </a:extLst>
          </p:cNvPr>
          <p:cNvSpPr/>
          <p:nvPr/>
        </p:nvSpPr>
        <p:spPr>
          <a:xfrm>
            <a:off x="9017000" y="1524000"/>
            <a:ext cx="1651000" cy="1651000"/>
          </a:xfrm>
          <a:prstGeom prst="ellipse">
            <a:avLst/>
          </a:prstGeom>
          <a:noFill/>
          <a:ln w="38100" cap="flat" cmpd="sng" algn="ctr">
            <a:solidFill>
              <a:srgbClr val="F2C30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CC44BA-A6D6-F36D-7078-70ADF94D5EE7}"/>
              </a:ext>
            </a:extLst>
          </p:cNvPr>
          <p:cNvSpPr txBox="1"/>
          <p:nvPr/>
        </p:nvSpPr>
        <p:spPr>
          <a:xfrm>
            <a:off x="9017000" y="2159000"/>
            <a:ext cx="16510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2200" b="1">
                <a:solidFill>
                  <a:srgbClr val="F2C300"/>
                </a:solidFill>
                <a:latin typeface="Aptos" panose="020B0004020202020204" pitchFamily="34" charset="0"/>
              </a:rPr>
              <a:t>SCAN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49DABB-C48E-5F08-FDD2-2BC6DF056441}"/>
              </a:ext>
            </a:extLst>
          </p:cNvPr>
          <p:cNvCxnSpPr/>
          <p:nvPr/>
        </p:nvCxnSpPr>
        <p:spPr>
          <a:xfrm>
            <a:off x="9207500" y="3454400"/>
            <a:ext cx="1270000" cy="0"/>
          </a:xfrm>
          <a:prstGeom prst="line">
            <a:avLst/>
          </a:prstGeom>
          <a:ln w="63500">
            <a:solidFill>
              <a:srgbClr val="F2C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3E3F2E-0225-06E6-D85E-A98B9E33DBB8}"/>
              </a:ext>
            </a:extLst>
          </p:cNvPr>
          <p:cNvSpPr txBox="1"/>
          <p:nvPr/>
        </p:nvSpPr>
        <p:spPr>
          <a:xfrm>
            <a:off x="9118600" y="3822700"/>
            <a:ext cx="14478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000" b="1">
                <a:solidFill>
                  <a:srgbClr val="AEB5C1"/>
                </a:solidFill>
                <a:latin typeface="Aptos" panose="020B0004020202020204" pitchFamily="34" charset="0"/>
              </a:rPr>
              <a:t>IDENTIFY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5C6E20-64ED-1D9F-73A7-497BC40CE77C}"/>
              </a:ext>
            </a:extLst>
          </p:cNvPr>
          <p:cNvSpPr txBox="1"/>
          <p:nvPr/>
        </p:nvSpPr>
        <p:spPr>
          <a:xfrm>
            <a:off x="9118600" y="4178300"/>
            <a:ext cx="14478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000" b="1">
                <a:solidFill>
                  <a:srgbClr val="AEB5C1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443A75-C3EA-BAD7-1877-1745A573D037}"/>
              </a:ext>
            </a:extLst>
          </p:cNvPr>
          <p:cNvSpPr txBox="1"/>
          <p:nvPr/>
        </p:nvSpPr>
        <p:spPr>
          <a:xfrm>
            <a:off x="9118600" y="4533900"/>
            <a:ext cx="14478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000" b="1">
                <a:solidFill>
                  <a:srgbClr val="AEB5C1"/>
                </a:solidFill>
                <a:latin typeface="Aptos" panose="020B0004020202020204" pitchFamily="34" charset="0"/>
              </a:rPr>
              <a:t>SYNC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7A79C7-7153-DB16-1887-D01DB08F7E9F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FE28182-A31C-5E4B-FE1C-EF9EF94D90C0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342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798B27-2256-2C27-F1F7-59B20763C3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0210FC-96EF-A2C4-BF2F-FDA6AFC1221E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THE HOOK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07CFB6-F3E7-5F62-21B6-47FFF8731C5B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fi-FI" sz="2700" b="1">
                <a:solidFill>
                  <a:srgbClr val="F8F9FB"/>
                </a:solidFill>
                <a:latin typeface="Aptos" panose="020B0004020202020204" pitchFamily="34" charset="0"/>
              </a:rPr>
              <a:t>Apa yang terjadi setelah siswa melakukan absensi di mesin?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C7F4D-FCF7-4C18-D51A-77C1DE6F3C31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Satu interaksi singkat berubah menjadi data kehadiran yang dapat langsung dipantau.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C69AC0-28CF-C6D9-AC03-764D70CD9B98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971F612-40D8-99FF-DE76-68492E241E94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C506785-FDD2-43D2-AB81-A3DDA0579AD4}"/>
              </a:ext>
            </a:extLst>
          </p:cNvPr>
          <p:cNvSpPr txBox="1"/>
          <p:nvPr/>
        </p:nvSpPr>
        <p:spPr>
          <a:xfrm>
            <a:off x="787400" y="2159000"/>
            <a:ext cx="5207000" cy="49757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900" b="1">
                <a:solidFill>
                  <a:srgbClr val="F8F9FB"/>
                </a:solidFill>
                <a:latin typeface="Aptos" panose="020B0004020202020204" pitchFamily="34" charset="0"/>
              </a:rPr>
              <a:t>Siswa terdeteksi.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091949-FA4C-E3F9-E387-BFABAF15518B}"/>
              </a:ext>
            </a:extLst>
          </p:cNvPr>
          <p:cNvSpPr txBox="1"/>
          <p:nvPr/>
        </p:nvSpPr>
        <p:spPr>
          <a:xfrm>
            <a:off x="787400" y="2844800"/>
            <a:ext cx="5207000" cy="49757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900" b="1">
                <a:solidFill>
                  <a:srgbClr val="F8F9FB"/>
                </a:solidFill>
                <a:latin typeface="Aptos" panose="020B0004020202020204" pitchFamily="34" charset="0"/>
              </a:rPr>
              <a:t>Identitas diverifikasi.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3AEFBF-065C-906F-5465-5F46ADB79F46}"/>
              </a:ext>
            </a:extLst>
          </p:cNvPr>
          <p:cNvSpPr txBox="1"/>
          <p:nvPr/>
        </p:nvSpPr>
        <p:spPr>
          <a:xfrm>
            <a:off x="787400" y="3530600"/>
            <a:ext cx="5207000" cy="49757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900" b="1">
                <a:solidFill>
                  <a:srgbClr val="F2C300"/>
                </a:solidFill>
                <a:latin typeface="Aptos" panose="020B0004020202020204" pitchFamily="34" charset="0"/>
              </a:rPr>
              <a:t>Kehadiran tersinkron.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388B66-E922-08C6-3795-BABDD275DA80}"/>
              </a:ext>
            </a:extLst>
          </p:cNvPr>
          <p:cNvSpPr txBox="1"/>
          <p:nvPr/>
        </p:nvSpPr>
        <p:spPr>
          <a:xfrm>
            <a:off x="812800" y="4445000"/>
            <a:ext cx="5207000" cy="6976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>
                <a:solidFill>
                  <a:srgbClr val="AEB5C1"/>
                </a:solidFill>
                <a:latin typeface="Aptos" panose="020B0004020202020204" pitchFamily="34" charset="0"/>
              </a:rPr>
              <a:t>Dalam satu perjalanan data, sekolah memperoleh bukti kehadiran, status waktu, histori, serta informasi yang siap dipantau dan dilaporkan.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70CF18-A86A-414B-18FF-BD9971E59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4000" y="1982407"/>
            <a:ext cx="4965700" cy="3103562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B9E8BDB-BAA7-5174-898C-F2BB2D39EAE1}"/>
              </a:ext>
            </a:extLst>
          </p:cNvPr>
          <p:cNvSpPr/>
          <p:nvPr/>
        </p:nvSpPr>
        <p:spPr>
          <a:xfrm>
            <a:off x="6604000" y="5410200"/>
            <a:ext cx="4953000" cy="508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DCC30-5990-EAD5-39D6-7243C19AC554}"/>
              </a:ext>
            </a:extLst>
          </p:cNvPr>
          <p:cNvSpPr txBox="1"/>
          <p:nvPr/>
        </p:nvSpPr>
        <p:spPr>
          <a:xfrm>
            <a:off x="6756400" y="5562600"/>
            <a:ext cx="46482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100" b="1">
                <a:solidFill>
                  <a:srgbClr val="F8F9FB"/>
                </a:solidFill>
                <a:latin typeface="Aptos" panose="020B0004020202020204" pitchFamily="34" charset="0"/>
              </a:rPr>
              <a:t>GASKAN menghubungkan mesin absensi, API, dashboard, dan pengguna.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4AADB-3693-2F98-30F3-8505EA222D07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F921E8-1706-56FE-D71A-23C792585378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37007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4F888B-3E1C-8F4E-E52B-8067419E6D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AD40F-1E35-AD98-815F-18A1CAB5ED54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MASALAH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568-C0BB-E36A-7545-F3929057E12F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Kehadiran bukan sekadar 'hadir atau tidak'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B75E8-A4E3-AF10-372E-1B5E2E0758A6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Tantangannya muncul pada validitas, kecepatan, keterlacakan, dan tindak lanjut.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28C24-17A4-6245-AC05-F216F01A9F94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5EB07B-319F-756B-C2DD-2AFDF2AAA0AC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74786E-038B-1398-51A1-083D255B04BC}"/>
              </a:ext>
            </a:extLst>
          </p:cNvPr>
          <p:cNvSpPr/>
          <p:nvPr/>
        </p:nvSpPr>
        <p:spPr>
          <a:xfrm>
            <a:off x="533400" y="2032000"/>
            <a:ext cx="2603500" cy="1905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8AA3B-7B60-186B-2BDC-5E13B4CD74B8}"/>
              </a:ext>
            </a:extLst>
          </p:cNvPr>
          <p:cNvSpPr txBox="1"/>
          <p:nvPr/>
        </p:nvSpPr>
        <p:spPr>
          <a:xfrm>
            <a:off x="7366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5B241-7961-A842-F4E9-950A29E2FFD3}"/>
              </a:ext>
            </a:extLst>
          </p:cNvPr>
          <p:cNvSpPr txBox="1"/>
          <p:nvPr/>
        </p:nvSpPr>
        <p:spPr>
          <a:xfrm>
            <a:off x="1193800" y="21971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Data tersebar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69485-4E2C-35B4-BF17-570B726B6690}"/>
              </a:ext>
            </a:extLst>
          </p:cNvPr>
          <p:cNvSpPr txBox="1"/>
          <p:nvPr/>
        </p:nvSpPr>
        <p:spPr>
          <a:xfrm>
            <a:off x="736600" y="2667000"/>
            <a:ext cx="21971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Catatan dari mesin absensi, kelas, izin, dan rekap mudah terpisah sehingga konteks siswa hilang.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9E457F0-9135-9DB6-AFAC-31F3C261D9C5}"/>
              </a:ext>
            </a:extLst>
          </p:cNvPr>
          <p:cNvSpPr/>
          <p:nvPr/>
        </p:nvSpPr>
        <p:spPr>
          <a:xfrm>
            <a:off x="3340100" y="2032000"/>
            <a:ext cx="2603500" cy="1905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16BC3F-18E8-AE1D-11B6-703F8B1C7451}"/>
              </a:ext>
            </a:extLst>
          </p:cNvPr>
          <p:cNvSpPr txBox="1"/>
          <p:nvPr/>
        </p:nvSpPr>
        <p:spPr>
          <a:xfrm>
            <a:off x="35433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25A2F3-5440-473A-1F95-F23BC915984F}"/>
              </a:ext>
            </a:extLst>
          </p:cNvPr>
          <p:cNvSpPr txBox="1"/>
          <p:nvPr/>
        </p:nvSpPr>
        <p:spPr>
          <a:xfrm>
            <a:off x="4000500" y="21971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Validasi lambat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4CA767-9A69-D407-DBA9-1316AEE191DB}"/>
              </a:ext>
            </a:extLst>
          </p:cNvPr>
          <p:cNvSpPr txBox="1"/>
          <p:nvPr/>
        </p:nvSpPr>
        <p:spPr>
          <a:xfrm>
            <a:off x="3543300" y="2667000"/>
            <a:ext cx="2197100" cy="72840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Ketika identitas dan waktu tidak diverifikasi langsung, koreksi baru muncul setelah masalah membesar.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AD45C5E-AB76-EC84-F4B0-BB4F6EB0D267}"/>
              </a:ext>
            </a:extLst>
          </p:cNvPr>
          <p:cNvSpPr/>
          <p:nvPr/>
        </p:nvSpPr>
        <p:spPr>
          <a:xfrm>
            <a:off x="6146800" y="2032000"/>
            <a:ext cx="2603500" cy="1905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3F7029-1442-DA8D-25EB-E8542575D2CB}"/>
              </a:ext>
            </a:extLst>
          </p:cNvPr>
          <p:cNvSpPr txBox="1"/>
          <p:nvPr/>
        </p:nvSpPr>
        <p:spPr>
          <a:xfrm>
            <a:off x="63500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63EEB8-76A5-42DD-6BAC-1C7E340F5D9A}"/>
              </a:ext>
            </a:extLst>
          </p:cNvPr>
          <p:cNvSpPr txBox="1"/>
          <p:nvPr/>
        </p:nvSpPr>
        <p:spPr>
          <a:xfrm>
            <a:off x="6807200" y="21971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Monitoring reaktif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E3126C-5ABE-8B04-8FBB-B22EFFBE9519}"/>
              </a:ext>
            </a:extLst>
          </p:cNvPr>
          <p:cNvSpPr txBox="1"/>
          <p:nvPr/>
        </p:nvSpPr>
        <p:spPr>
          <a:xfrm>
            <a:off x="6350000" y="2667000"/>
            <a:ext cx="21971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Petugas mengetahui anomali setelah laporan dibuat, bukan saat kejadian berlangsung.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1B9D60-E310-44F8-B19C-3EC2917E4C2B}"/>
              </a:ext>
            </a:extLst>
          </p:cNvPr>
          <p:cNvSpPr/>
          <p:nvPr/>
        </p:nvSpPr>
        <p:spPr>
          <a:xfrm>
            <a:off x="8953500" y="2032000"/>
            <a:ext cx="2705100" cy="1905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74AC62-89A1-3A65-BE30-93BB2B395382}"/>
              </a:ext>
            </a:extLst>
          </p:cNvPr>
          <p:cNvSpPr txBox="1"/>
          <p:nvPr/>
        </p:nvSpPr>
        <p:spPr>
          <a:xfrm>
            <a:off x="91567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5E5001-A833-761A-BC0A-0E2A385FA889}"/>
              </a:ext>
            </a:extLst>
          </p:cNvPr>
          <p:cNvSpPr txBox="1"/>
          <p:nvPr/>
        </p:nvSpPr>
        <p:spPr>
          <a:xfrm>
            <a:off x="9613900" y="2197100"/>
            <a:ext cx="1866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Rekap berulang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023848-9830-2BC3-7C0D-7E7534575805}"/>
              </a:ext>
            </a:extLst>
          </p:cNvPr>
          <p:cNvSpPr txBox="1"/>
          <p:nvPr/>
        </p:nvSpPr>
        <p:spPr>
          <a:xfrm>
            <a:off x="9156700" y="2667000"/>
            <a:ext cx="22987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Data yang sama dipindahkan berkali-kali untuk kebutuhan kelas, semester, dan laporan.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E0CE531-8B24-BF90-ECDC-F8DB166179D3}"/>
              </a:ext>
            </a:extLst>
          </p:cNvPr>
          <p:cNvSpPr/>
          <p:nvPr/>
        </p:nvSpPr>
        <p:spPr>
          <a:xfrm>
            <a:off x="533400" y="4318000"/>
            <a:ext cx="11125200" cy="1371600"/>
          </a:xfrm>
          <a:prstGeom prst="roundRect">
            <a:avLst/>
          </a:prstGeom>
          <a:solidFill>
            <a:srgbClr val="1D2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B4D336-F2DB-8C12-6223-8F2D98AC5225}"/>
              </a:ext>
            </a:extLst>
          </p:cNvPr>
          <p:cNvSpPr txBox="1"/>
          <p:nvPr/>
        </p:nvSpPr>
        <p:spPr>
          <a:xfrm>
            <a:off x="787400" y="4499481"/>
            <a:ext cx="3302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 b="1" dirty="0" err="1">
                <a:solidFill>
                  <a:srgbClr val="F2C300"/>
                </a:solidFill>
                <a:latin typeface="Aptos" panose="020B0004020202020204" pitchFamily="34" charset="0"/>
              </a:rPr>
              <a:t>Pertanyaan</a:t>
            </a:r>
            <a:r>
              <a:rPr lang="en-ID" sz="1200" b="1" dirty="0">
                <a:solidFill>
                  <a:srgbClr val="F2C300"/>
                </a:solidFill>
                <a:latin typeface="Aptos" panose="020B0004020202020204" pitchFamily="34" charset="0"/>
              </a:rPr>
              <a:t> </a:t>
            </a:r>
            <a:r>
              <a:rPr lang="en-ID" sz="1200" b="1" dirty="0" err="1">
                <a:solidFill>
                  <a:srgbClr val="F2C300"/>
                </a:solidFill>
                <a:latin typeface="Aptos" panose="020B0004020202020204" pitchFamily="34" charset="0"/>
              </a:rPr>
              <a:t>desain</a:t>
            </a:r>
            <a:r>
              <a:rPr lang="en-ID" sz="1200" b="1" dirty="0">
                <a:solidFill>
                  <a:srgbClr val="F2C300"/>
                </a:solidFill>
                <a:latin typeface="Aptos" panose="020B0004020202020204" pitchFamily="34" charset="0"/>
              </a:rPr>
              <a:t> GASKAN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7E0199-343E-7CAA-1039-5853F58D368B}"/>
              </a:ext>
            </a:extLst>
          </p:cNvPr>
          <p:cNvSpPr txBox="1"/>
          <p:nvPr/>
        </p:nvSpPr>
        <p:spPr>
          <a:xfrm>
            <a:off x="787400" y="4735443"/>
            <a:ext cx="10287000" cy="6976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Bagaimana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menjadikan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setiap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absensi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di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mesin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sebagai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data yang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langsung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berguna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bagi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siswa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, guru, admin, dan </a:t>
            </a:r>
            <a:r>
              <a:rPr lang="en-ID" sz="2100" b="1" dirty="0" err="1">
                <a:solidFill>
                  <a:srgbClr val="F8F9FB"/>
                </a:solidFill>
                <a:latin typeface="Aptos" panose="020B0004020202020204" pitchFamily="34" charset="0"/>
              </a:rPr>
              <a:t>sistem</a:t>
            </a:r>
            <a:r>
              <a:rPr lang="en-ID" sz="2100" b="1" dirty="0">
                <a:solidFill>
                  <a:srgbClr val="F8F9FB"/>
                </a:solidFill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3745A8-AA4D-EE79-3C68-68F63842EF19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22BF55-7E76-5DD0-89AD-3DEF6006B46D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86471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B0D383-E3CF-03DF-7CDF-0B791CF9D7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D1182-419E-A28F-FBCB-664EE3F9DC8D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SOLUSI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1234C-B9CE-F74E-6250-727C62465E4A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2700" b="1">
                <a:solidFill>
                  <a:srgbClr val="F8F9FB"/>
                </a:solidFill>
                <a:latin typeface="Aptos" panose="020B0004020202020204" pitchFamily="34" charset="0"/>
              </a:rPr>
              <a:t>GASKAN adalah ekosistem pencatatan kehadiran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69E1B-62C4-834A-8641-2017F4903906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Fase saat ini berfokus pada absensi melalui mesin dan pengelolaan datanya di platform web.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04CE9-B3F2-656A-2ACE-E7AF97F30BA3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4B120C-4803-A9B8-2DA8-28AF296DBC6A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86D274-95B5-2925-95F0-0CC9C403B3FC}"/>
              </a:ext>
            </a:extLst>
          </p:cNvPr>
          <p:cNvSpPr/>
          <p:nvPr/>
        </p:nvSpPr>
        <p:spPr>
          <a:xfrm>
            <a:off x="533400" y="2133600"/>
            <a:ext cx="3492500" cy="1752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586F32-6E55-4FC0-69F0-A7306D7E2EA0}"/>
              </a:ext>
            </a:extLst>
          </p:cNvPr>
          <p:cNvSpPr txBox="1"/>
          <p:nvPr/>
        </p:nvSpPr>
        <p:spPr>
          <a:xfrm>
            <a:off x="736600" y="23114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3B18B-D1E8-3044-6FA4-C2752050454F}"/>
              </a:ext>
            </a:extLst>
          </p:cNvPr>
          <p:cNvSpPr txBox="1"/>
          <p:nvPr/>
        </p:nvSpPr>
        <p:spPr>
          <a:xfrm>
            <a:off x="1193800" y="2298700"/>
            <a:ext cx="2654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Mesin absensi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29F73C-4608-8024-DBAE-5924EB183712}"/>
              </a:ext>
            </a:extLst>
          </p:cNvPr>
          <p:cNvSpPr txBox="1"/>
          <p:nvPr/>
        </p:nvSpPr>
        <p:spPr>
          <a:xfrm>
            <a:off x="736600" y="2768600"/>
            <a:ext cx="3086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Titik masuk data saat siswa melakukan absensi dan identitasnya diverifikasi.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5AE182-D5E1-DB93-33F3-655B14E684A1}"/>
              </a:ext>
            </a:extLst>
          </p:cNvPr>
          <p:cNvSpPr/>
          <p:nvPr/>
        </p:nvSpPr>
        <p:spPr>
          <a:xfrm>
            <a:off x="4343400" y="2133600"/>
            <a:ext cx="3492500" cy="1752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B20471-61B3-0D29-5A4A-4D64542775CF}"/>
              </a:ext>
            </a:extLst>
          </p:cNvPr>
          <p:cNvSpPr txBox="1"/>
          <p:nvPr/>
        </p:nvSpPr>
        <p:spPr>
          <a:xfrm>
            <a:off x="4546600" y="23114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130BC-906B-B8D6-F107-FDECF2EFC3FF}"/>
              </a:ext>
            </a:extLst>
          </p:cNvPr>
          <p:cNvSpPr txBox="1"/>
          <p:nvPr/>
        </p:nvSpPr>
        <p:spPr>
          <a:xfrm>
            <a:off x="5003800" y="2298700"/>
            <a:ext cx="2654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Platform operasional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EA35AD-CFDC-FC9A-2565-4342427C5E69}"/>
              </a:ext>
            </a:extLst>
          </p:cNvPr>
          <p:cNvSpPr txBox="1"/>
          <p:nvPr/>
        </p:nvSpPr>
        <p:spPr>
          <a:xfrm>
            <a:off x="4546600" y="2768600"/>
            <a:ext cx="30861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Dashboard, monitor mesin, izin, kalender, data master, dan laporan berada dalam satu pengalaman.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4BE976A-3CDA-E527-A479-177B45C54037}"/>
              </a:ext>
            </a:extLst>
          </p:cNvPr>
          <p:cNvSpPr/>
          <p:nvPr/>
        </p:nvSpPr>
        <p:spPr>
          <a:xfrm>
            <a:off x="8153400" y="2133600"/>
            <a:ext cx="3505200" cy="1752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0FFA38-307E-877D-C21B-5D3A4BCA28F8}"/>
              </a:ext>
            </a:extLst>
          </p:cNvPr>
          <p:cNvSpPr txBox="1"/>
          <p:nvPr/>
        </p:nvSpPr>
        <p:spPr>
          <a:xfrm>
            <a:off x="8356600" y="23114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87E42B-898F-B844-53C7-1A645B711F13}"/>
              </a:ext>
            </a:extLst>
          </p:cNvPr>
          <p:cNvSpPr txBox="1"/>
          <p:nvPr/>
        </p:nvSpPr>
        <p:spPr>
          <a:xfrm>
            <a:off x="8813800" y="2298700"/>
            <a:ext cx="26670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Sumber audit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372865-4706-E3FC-DCA0-C998CA42F6DB}"/>
              </a:ext>
            </a:extLst>
          </p:cNvPr>
          <p:cNvSpPr txBox="1"/>
          <p:nvPr/>
        </p:nvSpPr>
        <p:spPr>
          <a:xfrm>
            <a:off x="8356600" y="2768600"/>
            <a:ext cx="30988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Log kehadiran, login, onsite, error, serta konfigurasi perangkat membantu penelusuran.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E1D47CB-259C-8D5D-7F5A-1B06815F2B90}"/>
              </a:ext>
            </a:extLst>
          </p:cNvPr>
          <p:cNvSpPr/>
          <p:nvPr/>
        </p:nvSpPr>
        <p:spPr>
          <a:xfrm>
            <a:off x="533400" y="4254500"/>
            <a:ext cx="11125200" cy="1333500"/>
          </a:xfrm>
          <a:prstGeom prst="roundRect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65ACC-B39D-A479-B19A-E0C9F712A78B}"/>
              </a:ext>
            </a:extLst>
          </p:cNvPr>
          <p:cNvSpPr txBox="1"/>
          <p:nvPr/>
        </p:nvSpPr>
        <p:spPr>
          <a:xfrm>
            <a:off x="787400" y="4470400"/>
            <a:ext cx="2286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NILAI INTI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F3C630-F7B0-4136-FC56-20A9A24591BD}"/>
              </a:ext>
            </a:extLst>
          </p:cNvPr>
          <p:cNvSpPr txBox="1"/>
          <p:nvPr/>
        </p:nvSpPr>
        <p:spPr>
          <a:xfrm>
            <a:off x="787400" y="4851400"/>
            <a:ext cx="10287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400" b="1">
                <a:solidFill>
                  <a:srgbClr val="0B0E14"/>
                </a:solidFill>
                <a:latin typeface="Aptos" panose="020B0004020202020204" pitchFamily="34" charset="0"/>
              </a:rPr>
              <a:t>Satu peristiwa | satu identitas | satu jejak waktu | banyak keputusan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180EFC-4D05-62DD-A630-D87A3ED2FE3D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1E852A0-BEBF-C140-581D-542D701FC23B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3804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2454CD-3107-370C-A9A6-01D62F8D79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CC757B-812E-EAB0-C1D1-655ED8A2805A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CARA KERJA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03CB0-8979-3400-808A-4AB78AD54F0F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Perjalanan satu data kehadiran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8F3AC5-9BC5-81CF-D6C0-D48237A26C6C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Alur konseptual berdasarkan surface aplikasi dan integrasi API yang tersedia.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86CDC-CEB2-5D40-678B-B109BB67A729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D2E31B-2C64-192B-B902-A94FD18D8FA4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F74284-BF5F-1592-A735-2D425D7851F0}"/>
              </a:ext>
            </a:extLst>
          </p:cNvPr>
          <p:cNvSpPr/>
          <p:nvPr/>
        </p:nvSpPr>
        <p:spPr>
          <a:xfrm>
            <a:off x="533400" y="2603500"/>
            <a:ext cx="18796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074005-3AD1-96C3-372D-C0FA4AC45DA0}"/>
              </a:ext>
            </a:extLst>
          </p:cNvPr>
          <p:cNvSpPr/>
          <p:nvPr/>
        </p:nvSpPr>
        <p:spPr>
          <a:xfrm>
            <a:off x="711200" y="27813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B12B3E-C8F0-9015-1D05-58C4B18EFD8D}"/>
              </a:ext>
            </a:extLst>
          </p:cNvPr>
          <p:cNvSpPr txBox="1"/>
          <p:nvPr/>
        </p:nvSpPr>
        <p:spPr>
          <a:xfrm>
            <a:off x="711200" y="2874358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 dirty="0">
                <a:solidFill>
                  <a:srgbClr val="0B0E14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A75D22-6572-2928-7970-5925A0DA371F}"/>
              </a:ext>
            </a:extLst>
          </p:cNvPr>
          <p:cNvSpPr txBox="1"/>
          <p:nvPr/>
        </p:nvSpPr>
        <p:spPr>
          <a:xfrm>
            <a:off x="1168400" y="2781300"/>
            <a:ext cx="1092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Capture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057872-8E3F-97D4-4A23-641AC1D7E2A8}"/>
              </a:ext>
            </a:extLst>
          </p:cNvPr>
          <p:cNvSpPr txBox="1"/>
          <p:nvPr/>
        </p:nvSpPr>
        <p:spPr>
          <a:xfrm>
            <a:off x="736600" y="3251200"/>
            <a:ext cx="14732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Mesin absensi menangkap peristiwa dan identitas siswa.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2E8A7E64-84EA-C2D2-35F8-089EE792A7CE}"/>
              </a:ext>
            </a:extLst>
          </p:cNvPr>
          <p:cNvSpPr/>
          <p:nvPr/>
        </p:nvSpPr>
        <p:spPr>
          <a:xfrm>
            <a:off x="2451100" y="3098800"/>
            <a:ext cx="330200" cy="381000"/>
          </a:xfrm>
          <a:prstGeom prst="chevron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C76938-92FD-4F64-3146-B4A4561786E2}"/>
              </a:ext>
            </a:extLst>
          </p:cNvPr>
          <p:cNvSpPr/>
          <p:nvPr/>
        </p:nvSpPr>
        <p:spPr>
          <a:xfrm>
            <a:off x="2844800" y="2603500"/>
            <a:ext cx="18796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49314A2-84E5-6469-E17F-4D36E4BE4FAD}"/>
              </a:ext>
            </a:extLst>
          </p:cNvPr>
          <p:cNvSpPr/>
          <p:nvPr/>
        </p:nvSpPr>
        <p:spPr>
          <a:xfrm>
            <a:off x="3022600" y="27813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83E3B3-D951-5464-FA39-0F56B2AA64B3}"/>
              </a:ext>
            </a:extLst>
          </p:cNvPr>
          <p:cNvSpPr txBox="1"/>
          <p:nvPr/>
        </p:nvSpPr>
        <p:spPr>
          <a:xfrm>
            <a:off x="3022600" y="2874358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4372D5-4BD8-EB61-1663-64CF01BDE2DD}"/>
              </a:ext>
            </a:extLst>
          </p:cNvPr>
          <p:cNvSpPr txBox="1"/>
          <p:nvPr/>
        </p:nvSpPr>
        <p:spPr>
          <a:xfrm>
            <a:off x="3479800" y="2781300"/>
            <a:ext cx="1092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Verify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EC5F7B-5C81-CCD5-39A1-4FA2167D7146}"/>
              </a:ext>
            </a:extLst>
          </p:cNvPr>
          <p:cNvSpPr txBox="1"/>
          <p:nvPr/>
        </p:nvSpPr>
        <p:spPr>
          <a:xfrm>
            <a:off x="3048000" y="3251200"/>
            <a:ext cx="14732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Sistem mencocokkan pengguna, waktu, serta perangkat.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FCCC7199-93EC-087F-6E71-2A9EED17C37E}"/>
              </a:ext>
            </a:extLst>
          </p:cNvPr>
          <p:cNvSpPr/>
          <p:nvPr/>
        </p:nvSpPr>
        <p:spPr>
          <a:xfrm>
            <a:off x="4762500" y="3098800"/>
            <a:ext cx="330200" cy="381000"/>
          </a:xfrm>
          <a:prstGeom prst="chevron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8F6A6D6-91E5-51DC-AB31-D356265E8575}"/>
              </a:ext>
            </a:extLst>
          </p:cNvPr>
          <p:cNvSpPr/>
          <p:nvPr/>
        </p:nvSpPr>
        <p:spPr>
          <a:xfrm>
            <a:off x="5156200" y="2603500"/>
            <a:ext cx="18796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897A8-4E19-70EB-5F73-C5CDFAF8F254}"/>
              </a:ext>
            </a:extLst>
          </p:cNvPr>
          <p:cNvSpPr/>
          <p:nvPr/>
        </p:nvSpPr>
        <p:spPr>
          <a:xfrm>
            <a:off x="5334000" y="27813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780782-6151-149A-FD12-E39A80D77BF9}"/>
              </a:ext>
            </a:extLst>
          </p:cNvPr>
          <p:cNvSpPr txBox="1"/>
          <p:nvPr/>
        </p:nvSpPr>
        <p:spPr>
          <a:xfrm>
            <a:off x="5334000" y="2874358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7D6A01-BCA0-9E06-3566-1EA299104F90}"/>
              </a:ext>
            </a:extLst>
          </p:cNvPr>
          <p:cNvSpPr txBox="1"/>
          <p:nvPr/>
        </p:nvSpPr>
        <p:spPr>
          <a:xfrm>
            <a:off x="5791200" y="2781300"/>
            <a:ext cx="1092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Record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DEABF7-D3A6-22E4-54DA-0016835BA41A}"/>
              </a:ext>
            </a:extLst>
          </p:cNvPr>
          <p:cNvSpPr txBox="1"/>
          <p:nvPr/>
        </p:nvSpPr>
        <p:spPr>
          <a:xfrm>
            <a:off x="5359400" y="3251200"/>
            <a:ext cx="14732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REST API menyimpan status dan histori kehadiran.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53770B2-D40C-1AD1-C7D9-21C01A148B67}"/>
              </a:ext>
            </a:extLst>
          </p:cNvPr>
          <p:cNvSpPr/>
          <p:nvPr/>
        </p:nvSpPr>
        <p:spPr>
          <a:xfrm>
            <a:off x="7073900" y="3098800"/>
            <a:ext cx="330200" cy="381000"/>
          </a:xfrm>
          <a:prstGeom prst="chevron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231738-976F-7A7A-F6FA-9BE49A5BB821}"/>
              </a:ext>
            </a:extLst>
          </p:cNvPr>
          <p:cNvSpPr/>
          <p:nvPr/>
        </p:nvSpPr>
        <p:spPr>
          <a:xfrm>
            <a:off x="7467600" y="2603500"/>
            <a:ext cx="18796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52DADAA-A97A-75AD-86F4-EA9C4D19119B}"/>
              </a:ext>
            </a:extLst>
          </p:cNvPr>
          <p:cNvSpPr/>
          <p:nvPr/>
        </p:nvSpPr>
        <p:spPr>
          <a:xfrm>
            <a:off x="7645400" y="27813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24E1EB-F056-7278-0759-C21F9FD82726}"/>
              </a:ext>
            </a:extLst>
          </p:cNvPr>
          <p:cNvSpPr txBox="1"/>
          <p:nvPr/>
        </p:nvSpPr>
        <p:spPr>
          <a:xfrm>
            <a:off x="7645400" y="2874358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68EE1F-91AC-0152-1D86-7419C05D391B}"/>
              </a:ext>
            </a:extLst>
          </p:cNvPr>
          <p:cNvSpPr txBox="1"/>
          <p:nvPr/>
        </p:nvSpPr>
        <p:spPr>
          <a:xfrm>
            <a:off x="8102600" y="2781300"/>
            <a:ext cx="1092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Broadcast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FD8986-27F7-B7F9-5BE4-AAB5FBA05BCF}"/>
              </a:ext>
            </a:extLst>
          </p:cNvPr>
          <p:cNvSpPr txBox="1"/>
          <p:nvPr/>
        </p:nvSpPr>
        <p:spPr>
          <a:xfrm>
            <a:off x="7670800" y="3251200"/>
            <a:ext cx="14732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Socket.IO memperbarui monitor dan feed tanpa reload.</a:t>
            </a:r>
          </a:p>
        </p:txBody>
      </p:sp>
      <p:sp>
        <p:nvSpPr>
          <p:cNvPr id="31" name="Arrow: Chevron 30">
            <a:extLst>
              <a:ext uri="{FF2B5EF4-FFF2-40B4-BE49-F238E27FC236}">
                <a16:creationId xmlns:a16="http://schemas.microsoft.com/office/drawing/2014/main" id="{C12618B4-9F80-211D-D9F2-E69E636BE26A}"/>
              </a:ext>
            </a:extLst>
          </p:cNvPr>
          <p:cNvSpPr/>
          <p:nvPr/>
        </p:nvSpPr>
        <p:spPr>
          <a:xfrm>
            <a:off x="9385300" y="3098800"/>
            <a:ext cx="330200" cy="381000"/>
          </a:xfrm>
          <a:prstGeom prst="chevron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AA013B-2C64-08B0-28BE-39F8C01EE780}"/>
              </a:ext>
            </a:extLst>
          </p:cNvPr>
          <p:cNvSpPr/>
          <p:nvPr/>
        </p:nvSpPr>
        <p:spPr>
          <a:xfrm>
            <a:off x="9779000" y="2603500"/>
            <a:ext cx="18796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45222B-B0C5-C726-0825-403E6F5841DE}"/>
              </a:ext>
            </a:extLst>
          </p:cNvPr>
          <p:cNvSpPr/>
          <p:nvPr/>
        </p:nvSpPr>
        <p:spPr>
          <a:xfrm>
            <a:off x="9956800" y="27813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9AA5F8-A6FE-0756-160A-1A3AE7DAC8C7}"/>
              </a:ext>
            </a:extLst>
          </p:cNvPr>
          <p:cNvSpPr txBox="1"/>
          <p:nvPr/>
        </p:nvSpPr>
        <p:spPr>
          <a:xfrm>
            <a:off x="9956800" y="2874358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97CF15-79ED-2790-0940-B44315A44ABC}"/>
              </a:ext>
            </a:extLst>
          </p:cNvPr>
          <p:cNvSpPr txBox="1"/>
          <p:nvPr/>
        </p:nvSpPr>
        <p:spPr>
          <a:xfrm>
            <a:off x="10414000" y="2781300"/>
            <a:ext cx="10922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Act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DA4252-F430-2F93-2A46-682895C710D9}"/>
              </a:ext>
            </a:extLst>
          </p:cNvPr>
          <p:cNvSpPr txBox="1"/>
          <p:nvPr/>
        </p:nvSpPr>
        <p:spPr>
          <a:xfrm>
            <a:off x="9982200" y="3251200"/>
            <a:ext cx="14732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Admin/guru menindaklanjuti anomali, izin, dan laporan.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9E8B4C-3175-F5E2-F0C5-FABEB6CB7D91}"/>
              </a:ext>
            </a:extLst>
          </p:cNvPr>
          <p:cNvSpPr txBox="1"/>
          <p:nvPr/>
        </p:nvSpPr>
        <p:spPr>
          <a:xfrm>
            <a:off x="558800" y="4648200"/>
            <a:ext cx="110236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Catatan: detail penyimpanan dan algoritma verifikasi berada pada backend/perangkat; deck ini memetakan kontrak yang terlihat dari frontend GASKAN.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F668A6-F73E-C574-0D73-CD6BDF4ACA99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57B318B-F9FE-4541-EE3C-669AF3A2E3A2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7802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11F0C6-447F-3885-C853-2EEB651A5E3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F8918B-56A3-13F7-A5FE-C1B45C72CD86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COMMAND 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C1280-703B-8B8C-AE6F-13F55CAECC61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Dashboard mengubah data menjadi situational awareness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08C5AD-D4D7-FEF8-7A85-D1BA5EA30548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Statistik ringkas, aktivitas kehadiran, deteksi wajah gagal, dan login terbaru berada dalam satu pandangan.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79DA8-EB98-FBEA-294D-F9305A70826B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E1469D-04F5-5D32-680C-C959232E98D2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EE4D351-E7C9-4F7B-3DEC-09496B096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54710" y="2583387"/>
            <a:ext cx="4859881" cy="3037426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927224-2CAE-69E0-9091-70D2F105921F}"/>
              </a:ext>
            </a:extLst>
          </p:cNvPr>
          <p:cNvSpPr/>
          <p:nvPr/>
        </p:nvSpPr>
        <p:spPr>
          <a:xfrm>
            <a:off x="8191500" y="2032000"/>
            <a:ext cx="3467100" cy="1168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28DFD-3CDC-28EC-7FC0-332F2A19BC53}"/>
              </a:ext>
            </a:extLst>
          </p:cNvPr>
          <p:cNvSpPr txBox="1"/>
          <p:nvPr/>
        </p:nvSpPr>
        <p:spPr>
          <a:xfrm>
            <a:off x="83947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F224A-6BB8-1555-A771-3BCC60CC4E8D}"/>
              </a:ext>
            </a:extLst>
          </p:cNvPr>
          <p:cNvSpPr txBox="1"/>
          <p:nvPr/>
        </p:nvSpPr>
        <p:spPr>
          <a:xfrm>
            <a:off x="8851900" y="2197100"/>
            <a:ext cx="2628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Status hari ini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3C9F0A-D499-80AD-9A99-C568B2D0E30B}"/>
              </a:ext>
            </a:extLst>
          </p:cNvPr>
          <p:cNvSpPr txBox="1"/>
          <p:nvPr/>
        </p:nvSpPr>
        <p:spPr>
          <a:xfrm>
            <a:off x="8394700" y="2667000"/>
            <a:ext cx="30607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Alpha, izin/sakit, terlambat, hadir, dan persentase kehadiran.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425CEA5-4FB7-C793-5F6A-49142EB0F950}"/>
              </a:ext>
            </a:extLst>
          </p:cNvPr>
          <p:cNvSpPr/>
          <p:nvPr/>
        </p:nvSpPr>
        <p:spPr>
          <a:xfrm>
            <a:off x="8191500" y="3390900"/>
            <a:ext cx="3467100" cy="1168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C7B0E-A5DC-EB5A-1EFC-1C042B2FF152}"/>
              </a:ext>
            </a:extLst>
          </p:cNvPr>
          <p:cNvSpPr txBox="1"/>
          <p:nvPr/>
        </p:nvSpPr>
        <p:spPr>
          <a:xfrm>
            <a:off x="8394700" y="35687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344FD1-A28C-5D08-61F6-6DD805CFF38C}"/>
              </a:ext>
            </a:extLst>
          </p:cNvPr>
          <p:cNvSpPr txBox="1"/>
          <p:nvPr/>
        </p:nvSpPr>
        <p:spPr>
          <a:xfrm>
            <a:off x="8851900" y="3556000"/>
            <a:ext cx="2628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Aktivitas terbaru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FA2138-CE8C-D919-77B1-6A6660EF613A}"/>
              </a:ext>
            </a:extLst>
          </p:cNvPr>
          <p:cNvSpPr txBox="1"/>
          <p:nvPr/>
        </p:nvSpPr>
        <p:spPr>
          <a:xfrm>
            <a:off x="8394700" y="4025900"/>
            <a:ext cx="30607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Pencarian, filter kelas, status, dan tabel yang dapat dipaginasi.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3FEF7C3-DE43-FC07-F828-AC9A30954E80}"/>
              </a:ext>
            </a:extLst>
          </p:cNvPr>
          <p:cNvSpPr/>
          <p:nvPr/>
        </p:nvSpPr>
        <p:spPr>
          <a:xfrm>
            <a:off x="8191500" y="4749800"/>
            <a:ext cx="3467100" cy="1168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B6975E-3B11-74D4-CB32-80DDD4F66AE8}"/>
              </a:ext>
            </a:extLst>
          </p:cNvPr>
          <p:cNvSpPr txBox="1"/>
          <p:nvPr/>
        </p:nvSpPr>
        <p:spPr>
          <a:xfrm>
            <a:off x="8394700" y="49276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83D050-F503-F7C1-13DD-87C86405EB44}"/>
              </a:ext>
            </a:extLst>
          </p:cNvPr>
          <p:cNvSpPr txBox="1"/>
          <p:nvPr/>
        </p:nvSpPr>
        <p:spPr>
          <a:xfrm>
            <a:off x="8851900" y="4914900"/>
            <a:ext cx="2628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Anomali terlihat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A77990-89CC-9E0C-50BE-034A6ABAE4C2}"/>
              </a:ext>
            </a:extLst>
          </p:cNvPr>
          <p:cNvSpPr txBox="1"/>
          <p:nvPr/>
        </p:nvSpPr>
        <p:spPr>
          <a:xfrm>
            <a:off x="8394700" y="5384800"/>
            <a:ext cx="30607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Tab gagal deteksi wajah membantu operasi tidak berhenti pada angka sukses.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109DBE-6D23-CB58-4E21-DFA905E6F008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74F51C8-4402-269D-FC15-6C2BCEDA4329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2875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27636A-BC1B-0B3A-0016-BE2507545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65C11-3097-DF3B-465E-2BE7FB3D0423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REAL-TIME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CA1C2-16C1-2706-750F-C40AD279F8E9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Dari mesin absensi ke layar monitor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77E01-F447-AEDE-B204-4CAD92BCA728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Begitu siswa selesai melakukan absensi, data dikirim agar status kehadirannya dapat terlihat di sistem.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2332D-EEEC-A488-B089-C588E150040D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120C4D-16F0-7265-E5B2-9033EDF20060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F2E117-7FB9-AB34-56FB-AF721D6AE4D5}"/>
              </a:ext>
            </a:extLst>
          </p:cNvPr>
          <p:cNvSpPr/>
          <p:nvPr/>
        </p:nvSpPr>
        <p:spPr>
          <a:xfrm>
            <a:off x="533400" y="2387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638946-D4AB-14C1-DE4C-E3CF07A760A9}"/>
              </a:ext>
            </a:extLst>
          </p:cNvPr>
          <p:cNvSpPr/>
          <p:nvPr/>
        </p:nvSpPr>
        <p:spPr>
          <a:xfrm>
            <a:off x="711200" y="2565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F66F5-CFE9-1D18-EE59-704C9478A8FA}"/>
              </a:ext>
            </a:extLst>
          </p:cNvPr>
          <p:cNvSpPr txBox="1"/>
          <p:nvPr/>
        </p:nvSpPr>
        <p:spPr>
          <a:xfrm>
            <a:off x="711200" y="2616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5D89-9C4A-46F8-03C3-BC6E2BCFD02A}"/>
              </a:ext>
            </a:extLst>
          </p:cNvPr>
          <p:cNvSpPr txBox="1"/>
          <p:nvPr/>
        </p:nvSpPr>
        <p:spPr>
          <a:xfrm>
            <a:off x="1168400" y="2565400"/>
            <a:ext cx="16256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Siswa melakukan absensi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1AD40-28C9-AC6B-E5E2-33928672F254}"/>
              </a:ext>
            </a:extLst>
          </p:cNvPr>
          <p:cNvSpPr txBox="1"/>
          <p:nvPr/>
        </p:nvSpPr>
        <p:spPr>
          <a:xfrm>
            <a:off x="736600" y="3035300"/>
            <a:ext cx="2006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Siswa hadir di depan mesin dan mengikuti proses identifikasi.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EB00A9-9635-CEFE-B9BD-6822B5577CA8}"/>
              </a:ext>
            </a:extLst>
          </p:cNvPr>
          <p:cNvSpPr/>
          <p:nvPr/>
        </p:nvSpPr>
        <p:spPr>
          <a:xfrm>
            <a:off x="3378200" y="2387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460A87-A930-27D5-DFEB-B6530FF0CE83}"/>
              </a:ext>
            </a:extLst>
          </p:cNvPr>
          <p:cNvSpPr/>
          <p:nvPr/>
        </p:nvSpPr>
        <p:spPr>
          <a:xfrm>
            <a:off x="3556000" y="2565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6AF3E-7CD4-2885-5A39-B58A22F1FC3E}"/>
              </a:ext>
            </a:extLst>
          </p:cNvPr>
          <p:cNvSpPr txBox="1"/>
          <p:nvPr/>
        </p:nvSpPr>
        <p:spPr>
          <a:xfrm>
            <a:off x="3556000" y="2616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98A370-B238-3140-561C-A6879FB3C987}"/>
              </a:ext>
            </a:extLst>
          </p:cNvPr>
          <p:cNvSpPr txBox="1"/>
          <p:nvPr/>
        </p:nvSpPr>
        <p:spPr>
          <a:xfrm>
            <a:off x="4013200" y="2565400"/>
            <a:ext cx="1625600" cy="48218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Mesin mengenali siswa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6BE88-5B1F-296C-D093-E6E1A42F9D66}"/>
              </a:ext>
            </a:extLst>
          </p:cNvPr>
          <p:cNvSpPr txBox="1"/>
          <p:nvPr/>
        </p:nvSpPr>
        <p:spPr>
          <a:xfrm>
            <a:off x="3581400" y="3035300"/>
            <a:ext cx="2006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nb-NO" sz="1000">
                <a:solidFill>
                  <a:srgbClr val="AEB5C1"/>
                </a:solidFill>
                <a:latin typeface="Aptos" panose="020B0004020202020204" pitchFamily="34" charset="0"/>
              </a:rPr>
              <a:t>Perangkat mengirim identitas, waktu, dan hasil verifikasi.</a:t>
            </a:r>
            <a:endParaRPr lang="en-ID" sz="10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B8D7A92-FC1D-27EF-C8CB-789484E6F0CF}"/>
              </a:ext>
            </a:extLst>
          </p:cNvPr>
          <p:cNvSpPr/>
          <p:nvPr/>
        </p:nvSpPr>
        <p:spPr>
          <a:xfrm>
            <a:off x="6223000" y="2387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1ABBA87-58CD-5D66-C1E9-7EF19F3A0153}"/>
              </a:ext>
            </a:extLst>
          </p:cNvPr>
          <p:cNvSpPr/>
          <p:nvPr/>
        </p:nvSpPr>
        <p:spPr>
          <a:xfrm>
            <a:off x="6400800" y="2565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3501E4-E2F5-DFB5-7303-E7A9F71CC06A}"/>
              </a:ext>
            </a:extLst>
          </p:cNvPr>
          <p:cNvSpPr txBox="1"/>
          <p:nvPr/>
        </p:nvSpPr>
        <p:spPr>
          <a:xfrm>
            <a:off x="6400800" y="2616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2598D8-CA36-DF96-25D2-4ACEC88351BC}"/>
              </a:ext>
            </a:extLst>
          </p:cNvPr>
          <p:cNvSpPr txBox="1"/>
          <p:nvPr/>
        </p:nvSpPr>
        <p:spPr>
          <a:xfrm>
            <a:off x="6858000" y="2565400"/>
            <a:ext cx="1625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Sistem mencatat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30CA8B-BF77-EFC2-1305-8D0364D4F870}"/>
              </a:ext>
            </a:extLst>
          </p:cNvPr>
          <p:cNvSpPr txBox="1"/>
          <p:nvPr/>
        </p:nvSpPr>
        <p:spPr>
          <a:xfrm>
            <a:off x="6426200" y="3035300"/>
            <a:ext cx="20066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Backend menyimpan peristiwa menjadi status kehadiran.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3F19197-98D7-286C-8BED-9E3AA05BA2BC}"/>
              </a:ext>
            </a:extLst>
          </p:cNvPr>
          <p:cNvSpPr/>
          <p:nvPr/>
        </p:nvSpPr>
        <p:spPr>
          <a:xfrm>
            <a:off x="9067800" y="2387600"/>
            <a:ext cx="25908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EEB081-CE52-3A4A-CB00-360364606C85}"/>
              </a:ext>
            </a:extLst>
          </p:cNvPr>
          <p:cNvSpPr/>
          <p:nvPr/>
        </p:nvSpPr>
        <p:spPr>
          <a:xfrm>
            <a:off x="9245600" y="2565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940038-19FC-85EF-C2AC-410E52CF08BC}"/>
              </a:ext>
            </a:extLst>
          </p:cNvPr>
          <p:cNvSpPr txBox="1"/>
          <p:nvPr/>
        </p:nvSpPr>
        <p:spPr>
          <a:xfrm>
            <a:off x="9245600" y="2616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F25728-53C9-DDFD-CD7C-C0A70C428176}"/>
              </a:ext>
            </a:extLst>
          </p:cNvPr>
          <p:cNvSpPr txBox="1"/>
          <p:nvPr/>
        </p:nvSpPr>
        <p:spPr>
          <a:xfrm>
            <a:off x="9702800" y="2565400"/>
            <a:ext cx="180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Monitor diperbarui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5C57FA-9247-8B49-78EF-77B0A7E08A25}"/>
              </a:ext>
            </a:extLst>
          </p:cNvPr>
          <p:cNvSpPr txBox="1"/>
          <p:nvPr/>
        </p:nvSpPr>
        <p:spPr>
          <a:xfrm>
            <a:off x="9271000" y="3035300"/>
            <a:ext cx="2184400" cy="3590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Dashboard menampilkan hasil agar dapat dipantau petugas.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3EEFA5-847B-E7A8-48BC-F81B57A67FC9}"/>
              </a:ext>
            </a:extLst>
          </p:cNvPr>
          <p:cNvSpPr/>
          <p:nvPr/>
        </p:nvSpPr>
        <p:spPr>
          <a:xfrm>
            <a:off x="533400" y="4381500"/>
            <a:ext cx="11125200" cy="1206500"/>
          </a:xfrm>
          <a:prstGeom prst="roundRect">
            <a:avLst/>
          </a:prstGeom>
          <a:solidFill>
            <a:srgbClr val="1D2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94C09A-0FF5-16EA-52F6-C9BEF8B45E97}"/>
              </a:ext>
            </a:extLst>
          </p:cNvPr>
          <p:cNvSpPr txBox="1"/>
          <p:nvPr/>
        </p:nvSpPr>
        <p:spPr>
          <a:xfrm>
            <a:off x="787400" y="4622800"/>
            <a:ext cx="2286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 b="1">
                <a:solidFill>
                  <a:srgbClr val="F2C300"/>
                </a:solidFill>
                <a:latin typeface="Aptos" panose="020B0004020202020204" pitchFamily="34" charset="0"/>
              </a:rPr>
              <a:t>Kondisi saat ini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D81173-2557-7024-310E-607F02104BA8}"/>
              </a:ext>
            </a:extLst>
          </p:cNvPr>
          <p:cNvSpPr txBox="1"/>
          <p:nvPr/>
        </p:nvSpPr>
        <p:spPr>
          <a:xfrm>
            <a:off x="787400" y="5016500"/>
            <a:ext cx="10414000" cy="6052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b="1">
                <a:solidFill>
                  <a:srgbClr val="F8F9FB"/>
                </a:solidFill>
                <a:latin typeface="Aptos" panose="020B0004020202020204" pitchFamily="34" charset="0"/>
              </a:rPr>
              <a:t>Fokus utama saat ini adalah identifikasi siswa melalui mesin, pencatatan waktu, dan pembaruan status kehadiran.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2F9460-348F-B048-08C2-C38AF7B40D3D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7B0B55E-3392-5C80-7A44-571C1D4DFA37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703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8215BD-D558-7E7E-7AA8-6F958A2A22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37EA14-99BE-3143-8A5B-BB8A4CAA6245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OPERASIONAL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B72C90-CDA0-2FD1-051C-C9679AD94A5D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fi-FI" sz="2700" b="1">
                <a:solidFill>
                  <a:srgbClr val="F8F9FB"/>
                </a:solidFill>
                <a:latin typeface="Aptos" panose="020B0004020202020204" pitchFamily="34" charset="0"/>
              </a:rPr>
              <a:t>Siklus kehadiran dari kejadian hingga laporan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4FDA4-22B6-53B7-54C8-57E32A911431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Fitur saling terhubung agar koreksi dan rekap tidak menjadi proses terpisah.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2844C-D78D-FB53-C4DC-2C4A26BCC8E4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AD676C-613D-14D2-D1FB-E9E3BC08D6F0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4B7A97D-5F2E-9E19-90C2-2F3BE49FE6EE}"/>
              </a:ext>
            </a:extLst>
          </p:cNvPr>
          <p:cNvSpPr/>
          <p:nvPr/>
        </p:nvSpPr>
        <p:spPr>
          <a:xfrm>
            <a:off x="533400" y="2095500"/>
            <a:ext cx="26035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1F39C-90D8-A94C-C228-E55C38E0E32D}"/>
              </a:ext>
            </a:extLst>
          </p:cNvPr>
          <p:cNvSpPr txBox="1"/>
          <p:nvPr/>
        </p:nvSpPr>
        <p:spPr>
          <a:xfrm>
            <a:off x="7366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9BADE0-FF71-7719-BCA2-39C6C17AD24A}"/>
              </a:ext>
            </a:extLst>
          </p:cNvPr>
          <p:cNvSpPr txBox="1"/>
          <p:nvPr/>
        </p:nvSpPr>
        <p:spPr>
          <a:xfrm>
            <a:off x="1193800" y="2260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Absensi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4BBFCD-B081-1C0F-36D7-D4CA2351E8A9}"/>
              </a:ext>
            </a:extLst>
          </p:cNvPr>
          <p:cNvSpPr txBox="1"/>
          <p:nvPr/>
        </p:nvSpPr>
        <p:spPr>
          <a:xfrm>
            <a:off x="736600" y="2730500"/>
            <a:ext cx="2197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Pengelolaan data hadir, terlambat, izin/sakit, dan belum absen.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E09A9B-8091-A79A-EE60-0C16AD056BB6}"/>
              </a:ext>
            </a:extLst>
          </p:cNvPr>
          <p:cNvSpPr/>
          <p:nvPr/>
        </p:nvSpPr>
        <p:spPr>
          <a:xfrm>
            <a:off x="3340100" y="2095500"/>
            <a:ext cx="26035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3BDE2-252A-A874-33C7-F78F8637EF21}"/>
              </a:ext>
            </a:extLst>
          </p:cNvPr>
          <p:cNvSpPr txBox="1"/>
          <p:nvPr/>
        </p:nvSpPr>
        <p:spPr>
          <a:xfrm>
            <a:off x="35433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967ACE-0809-2EFE-8B69-B8FD0808C54A}"/>
              </a:ext>
            </a:extLst>
          </p:cNvPr>
          <p:cNvSpPr txBox="1"/>
          <p:nvPr/>
        </p:nvSpPr>
        <p:spPr>
          <a:xfrm>
            <a:off x="4000500" y="2260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Surat izin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9C79E2-135A-3B83-9968-431ED69E8106}"/>
              </a:ext>
            </a:extLst>
          </p:cNvPr>
          <p:cNvSpPr txBox="1"/>
          <p:nvPr/>
        </p:nvSpPr>
        <p:spPr>
          <a:xfrm>
            <a:off x="3543300" y="2730500"/>
            <a:ext cx="21971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1100">
                <a:solidFill>
                  <a:srgbClr val="AEB5C1"/>
                </a:solidFill>
                <a:latin typeface="Aptos" panose="020B0004020202020204" pitchFamily="34" charset="0"/>
              </a:rPr>
              <a:t>Pengajuan izin/sakit digital menjadi bagian dari konteks kehadiran siswa.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09DC1E-973E-CBC3-9F89-4895B051C15D}"/>
              </a:ext>
            </a:extLst>
          </p:cNvPr>
          <p:cNvSpPr/>
          <p:nvPr/>
        </p:nvSpPr>
        <p:spPr>
          <a:xfrm>
            <a:off x="6146800" y="2095500"/>
            <a:ext cx="26035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8F50D0-C720-1586-CB13-676B93B8B06E}"/>
              </a:ext>
            </a:extLst>
          </p:cNvPr>
          <p:cNvSpPr txBox="1"/>
          <p:nvPr/>
        </p:nvSpPr>
        <p:spPr>
          <a:xfrm>
            <a:off x="63500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F27386-FCD3-2C00-D7AE-1CE75630BEA3}"/>
              </a:ext>
            </a:extLst>
          </p:cNvPr>
          <p:cNvSpPr txBox="1"/>
          <p:nvPr/>
        </p:nvSpPr>
        <p:spPr>
          <a:xfrm>
            <a:off x="6807200" y="2260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Log kehadiran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611A42-8D2E-35A9-6054-D1DC1B8BE36C}"/>
              </a:ext>
            </a:extLst>
          </p:cNvPr>
          <p:cNvSpPr txBox="1"/>
          <p:nvPr/>
        </p:nvSpPr>
        <p:spPr>
          <a:xfrm>
            <a:off x="6350000" y="2730500"/>
            <a:ext cx="2197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Jejak peristiwa digunakan untuk pemeriksaan dan pencarian histori.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3F57DCD-1CB7-C75B-00F0-87E284951201}"/>
              </a:ext>
            </a:extLst>
          </p:cNvPr>
          <p:cNvSpPr/>
          <p:nvPr/>
        </p:nvSpPr>
        <p:spPr>
          <a:xfrm>
            <a:off x="8953500" y="2095500"/>
            <a:ext cx="27051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9D3DD0-E071-EED3-F13C-DFFE68DEF44D}"/>
              </a:ext>
            </a:extLst>
          </p:cNvPr>
          <p:cNvSpPr txBox="1"/>
          <p:nvPr/>
        </p:nvSpPr>
        <p:spPr>
          <a:xfrm>
            <a:off x="91567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D8B434-F925-07B0-26C7-2BE37634FC78}"/>
              </a:ext>
            </a:extLst>
          </p:cNvPr>
          <p:cNvSpPr txBox="1"/>
          <p:nvPr/>
        </p:nvSpPr>
        <p:spPr>
          <a:xfrm>
            <a:off x="9613900" y="2260600"/>
            <a:ext cx="1866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Laporan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49DFB9-2829-6DC8-C123-253B6EFFBAC5}"/>
              </a:ext>
            </a:extLst>
          </p:cNvPr>
          <p:cNvSpPr txBox="1"/>
          <p:nvPr/>
        </p:nvSpPr>
        <p:spPr>
          <a:xfrm>
            <a:off x="9156700" y="2730500"/>
            <a:ext cx="22987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Ekspor operasional tersedia melalui PDF dan Excel pada surface laporan.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550FE-3FC0-4F5A-38E4-C35ECB693C34}"/>
              </a:ext>
            </a:extLst>
          </p:cNvPr>
          <p:cNvSpPr txBox="1"/>
          <p:nvPr/>
        </p:nvSpPr>
        <p:spPr>
          <a:xfrm>
            <a:off x="533400" y="4254500"/>
            <a:ext cx="31750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2C300"/>
                </a:solidFill>
                <a:latin typeface="Aptos" panose="020B0004020202020204" pitchFamily="34" charset="0"/>
              </a:rPr>
              <a:t>Keluaran yang dicari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15ADC2-F442-9504-0D4B-99B3A224D844}"/>
              </a:ext>
            </a:extLst>
          </p:cNvPr>
          <p:cNvSpPr/>
          <p:nvPr/>
        </p:nvSpPr>
        <p:spPr>
          <a:xfrm>
            <a:off x="584200" y="48514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F63D35A-B2B2-F0CA-BDAE-B35393120ACF}"/>
              </a:ext>
            </a:extLst>
          </p:cNvPr>
          <p:cNvSpPr txBox="1"/>
          <p:nvPr/>
        </p:nvSpPr>
        <p:spPr>
          <a:xfrm>
            <a:off x="812800" y="4762500"/>
            <a:ext cx="1056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nn-NO" sz="1400">
                <a:solidFill>
                  <a:srgbClr val="F8F9FB"/>
                </a:solidFill>
                <a:latin typeface="Aptos" panose="020B0004020202020204" pitchFamily="34" charset="0"/>
              </a:rPr>
              <a:t>Rekap lebih konsisten karena sumber data sama.</a:t>
            </a:r>
            <a:endParaRPr lang="en-ID" sz="1400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7502BFA-688C-41F8-99B0-C9BCD7FE2ED9}"/>
              </a:ext>
            </a:extLst>
          </p:cNvPr>
          <p:cNvSpPr/>
          <p:nvPr/>
        </p:nvSpPr>
        <p:spPr>
          <a:xfrm>
            <a:off x="584200" y="53086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27777A9-65F8-1DF0-B6AD-8B57BF47D421}"/>
              </a:ext>
            </a:extLst>
          </p:cNvPr>
          <p:cNvSpPr txBox="1"/>
          <p:nvPr/>
        </p:nvSpPr>
        <p:spPr>
          <a:xfrm>
            <a:off x="812800" y="5219700"/>
            <a:ext cx="1056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>
                <a:solidFill>
                  <a:srgbClr val="F8F9FB"/>
                </a:solidFill>
                <a:latin typeface="Aptos" panose="020B0004020202020204" pitchFamily="34" charset="0"/>
              </a:rPr>
              <a:t>Kasus khusus tetap memiliki bukti dan status.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E653358-0CA7-50C1-893A-551FA1B8F386}"/>
              </a:ext>
            </a:extLst>
          </p:cNvPr>
          <p:cNvSpPr/>
          <p:nvPr/>
        </p:nvSpPr>
        <p:spPr>
          <a:xfrm>
            <a:off x="584200" y="57658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990E4A-18D4-36A0-1DBE-3EF3692F20A4}"/>
              </a:ext>
            </a:extLst>
          </p:cNvPr>
          <p:cNvSpPr txBox="1"/>
          <p:nvPr/>
        </p:nvSpPr>
        <p:spPr>
          <a:xfrm>
            <a:off x="812800" y="5676900"/>
            <a:ext cx="10566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>
                <a:solidFill>
                  <a:srgbClr val="F8F9FB"/>
                </a:solidFill>
                <a:latin typeface="Aptos" panose="020B0004020202020204" pitchFamily="34" charset="0"/>
              </a:rPr>
              <a:t>Informasi dapat dibaca per siswa, kelas, dan periode.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6BC202-6D7B-8A68-678A-E6B82DC4A764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BB563D-4CAB-18E2-4866-B2113C1D1BC8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95575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C07664-609C-F4AF-1D02-28A7C6FC01C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AC2BFE-5FFF-B3DF-EEBD-7B70C7F866A1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KONTEKS AKADEMIK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84463-AA64-A361-878A-124F41982DA0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2700" b="1">
                <a:solidFill>
                  <a:srgbClr val="F8F9FB"/>
                </a:solidFill>
                <a:latin typeface="Aptos" panose="020B0004020202020204" pitchFamily="34" charset="0"/>
              </a:rPr>
              <a:t>Kehadiran hanya bermakna jika kalender dan struktur sekolah benar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3695C-15CF-187E-962E-D13F39540F16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GASKAN mengelola kalender akademik, siswa, kelas, jurusan, semester, dan reshuffle.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CF3C16-98DD-4B1F-4EFA-9B5F9F6FEBCE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09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682DCF-6832-1B4C-8F03-EEBBE68A0508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E3AAACB-48E5-A208-8DBC-4829CD7499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41434" y="2772527"/>
            <a:ext cx="4051432" cy="2532145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D6892F-3C66-4ED8-0B07-D3FF12110AD4}"/>
              </a:ext>
            </a:extLst>
          </p:cNvPr>
          <p:cNvSpPr/>
          <p:nvPr/>
        </p:nvSpPr>
        <p:spPr>
          <a:xfrm>
            <a:off x="7620000" y="2032000"/>
            <a:ext cx="4038600" cy="11938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816191-04F7-9233-B9C3-803438DE1D61}"/>
              </a:ext>
            </a:extLst>
          </p:cNvPr>
          <p:cNvSpPr txBox="1"/>
          <p:nvPr/>
        </p:nvSpPr>
        <p:spPr>
          <a:xfrm>
            <a:off x="7823200" y="2209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D463F8-F92A-5574-0959-D59C8D23353E}"/>
              </a:ext>
            </a:extLst>
          </p:cNvPr>
          <p:cNvSpPr txBox="1"/>
          <p:nvPr/>
        </p:nvSpPr>
        <p:spPr>
          <a:xfrm>
            <a:off x="8280400" y="2197100"/>
            <a:ext cx="32004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Kalender akademik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DB062A-3D3A-D2CB-940C-90B9FADECBC0}"/>
              </a:ext>
            </a:extLst>
          </p:cNvPr>
          <p:cNvSpPr txBox="1"/>
          <p:nvPr/>
        </p:nvSpPr>
        <p:spPr>
          <a:xfrm>
            <a:off x="7823200" y="2667000"/>
            <a:ext cx="36322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Hari efektif, fakultatif, libur, dan ujian memberi konteks pada perhitungan.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71D87DD-72B2-BE7B-23A4-A79BF1B94268}"/>
              </a:ext>
            </a:extLst>
          </p:cNvPr>
          <p:cNvSpPr/>
          <p:nvPr/>
        </p:nvSpPr>
        <p:spPr>
          <a:xfrm>
            <a:off x="7620000" y="3429000"/>
            <a:ext cx="4038600" cy="11938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25870-40DB-D343-CE1D-4C3198D45C0F}"/>
              </a:ext>
            </a:extLst>
          </p:cNvPr>
          <p:cNvSpPr txBox="1"/>
          <p:nvPr/>
        </p:nvSpPr>
        <p:spPr>
          <a:xfrm>
            <a:off x="7823200" y="360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C4D71A-4236-FA75-1902-A7FE293D5565}"/>
              </a:ext>
            </a:extLst>
          </p:cNvPr>
          <p:cNvSpPr txBox="1"/>
          <p:nvPr/>
        </p:nvSpPr>
        <p:spPr>
          <a:xfrm>
            <a:off x="8280400" y="3594100"/>
            <a:ext cx="32004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Data master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73A45C-7029-C62D-12AC-1D811FB3E390}"/>
              </a:ext>
            </a:extLst>
          </p:cNvPr>
          <p:cNvSpPr txBox="1"/>
          <p:nvPr/>
        </p:nvSpPr>
        <p:spPr>
          <a:xfrm>
            <a:off x="7823200" y="4064000"/>
            <a:ext cx="36322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Siswa, kelas, jurusan, dan semester membentuk dimensi utama laporan.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D9A93AC-1578-CD67-DA78-885AB2E47A6B}"/>
              </a:ext>
            </a:extLst>
          </p:cNvPr>
          <p:cNvSpPr/>
          <p:nvPr/>
        </p:nvSpPr>
        <p:spPr>
          <a:xfrm>
            <a:off x="7620000" y="4826000"/>
            <a:ext cx="4038600" cy="11938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D507CA-0EC4-6BE6-4A22-DA28975A6DB4}"/>
              </a:ext>
            </a:extLst>
          </p:cNvPr>
          <p:cNvSpPr txBox="1"/>
          <p:nvPr/>
        </p:nvSpPr>
        <p:spPr>
          <a:xfrm>
            <a:off x="7823200" y="5003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17C203-80CB-4C4B-2FB2-E334181A41A9}"/>
              </a:ext>
            </a:extLst>
          </p:cNvPr>
          <p:cNvSpPr txBox="1"/>
          <p:nvPr/>
        </p:nvSpPr>
        <p:spPr>
          <a:xfrm>
            <a:off x="8280400" y="4991100"/>
            <a:ext cx="32004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Perubahan periode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12E80-6428-3724-90C7-E2AF75834AD5}"/>
              </a:ext>
            </a:extLst>
          </p:cNvPr>
          <p:cNvSpPr txBox="1"/>
          <p:nvPr/>
        </p:nvSpPr>
        <p:spPr>
          <a:xfrm>
            <a:off x="7823200" y="5461000"/>
            <a:ext cx="36322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1100">
                <a:solidFill>
                  <a:srgbClr val="AEB5C1"/>
                </a:solidFill>
                <a:latin typeface="Aptos" panose="020B0004020202020204" pitchFamily="34" charset="0"/>
              </a:rPr>
              <a:t>Reshuffle dan histori menjaga perpindahan kelas tetap dapat ditelusuri.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1FC3CC-782E-6DE0-3BD5-7D3BE45BFD4E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6628104-9957-CB27-83D6-EB07B7B2D3FF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687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754641-7E6C-29A9-F7B4-5C2AE814FC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A34354-1069-D475-D720-B47C5743B6F5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MULTI-ROLE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6AF04-04D5-F5B1-84F1-8B66F3CBA333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Satu sistem, pengalaman yang berbeda sesuai tanggung jawab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B5877-BD3A-977F-40C2-20B47E75D476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Navigasi aplikasi menerapkan pembatasan berbasis peran pada berbagai surface.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D879E3-8F11-ED9C-500D-9A39B3CF0F2B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CE7C4C0-E592-B166-D685-99C0C9F3D0FC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E5F0042-1B18-0072-33DA-11EF4EA1AAFE}"/>
              </a:ext>
            </a:extLst>
          </p:cNvPr>
          <p:cNvSpPr/>
          <p:nvPr/>
        </p:nvSpPr>
        <p:spPr>
          <a:xfrm>
            <a:off x="533400" y="2159000"/>
            <a:ext cx="3429000" cy="2286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F05D8-B99D-CC21-EBA4-EAC76540A517}"/>
              </a:ext>
            </a:extLst>
          </p:cNvPr>
          <p:cNvSpPr txBox="1"/>
          <p:nvPr/>
        </p:nvSpPr>
        <p:spPr>
          <a:xfrm>
            <a:off x="7366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7D3A0C-7E29-BCF2-CE5A-CEEBA7A11482}"/>
              </a:ext>
            </a:extLst>
          </p:cNvPr>
          <p:cNvSpPr txBox="1"/>
          <p:nvPr/>
        </p:nvSpPr>
        <p:spPr>
          <a:xfrm>
            <a:off x="11938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Siswa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300660-73F8-55B6-D8FF-B8B08AF95733}"/>
              </a:ext>
            </a:extLst>
          </p:cNvPr>
          <p:cNvSpPr txBox="1"/>
          <p:nvPr/>
        </p:nvSpPr>
        <p:spPr>
          <a:xfrm>
            <a:off x="7366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Melihat dashboard pribadi, profil, kalender, log kehadiran, dan surat izin sesuai hak akses.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9868E8-E96B-9101-5B05-7968ED2CBB80}"/>
              </a:ext>
            </a:extLst>
          </p:cNvPr>
          <p:cNvSpPr/>
          <p:nvPr/>
        </p:nvSpPr>
        <p:spPr>
          <a:xfrm>
            <a:off x="4381500" y="2159000"/>
            <a:ext cx="3429000" cy="2286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D9812-B8D8-81CF-38C9-2DEC29C57F71}"/>
              </a:ext>
            </a:extLst>
          </p:cNvPr>
          <p:cNvSpPr txBox="1"/>
          <p:nvPr/>
        </p:nvSpPr>
        <p:spPr>
          <a:xfrm>
            <a:off x="45847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6DA8C-EF22-B10D-74D0-B08DFBC951AD}"/>
              </a:ext>
            </a:extLst>
          </p:cNvPr>
          <p:cNvSpPr txBox="1"/>
          <p:nvPr/>
        </p:nvSpPr>
        <p:spPr>
          <a:xfrm>
            <a:off x="50419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Guru / operator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1893C9-EDBA-DB71-4670-BD50B549E8C8}"/>
              </a:ext>
            </a:extLst>
          </p:cNvPr>
          <p:cNvSpPr txBox="1"/>
          <p:nvPr/>
        </p:nvSpPr>
        <p:spPr>
          <a:xfrm>
            <a:off x="45847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nb-NO" sz="1100">
                <a:solidFill>
                  <a:srgbClr val="AEB5C1"/>
                </a:solidFill>
                <a:latin typeface="Aptos" panose="020B0004020202020204" pitchFamily="34" charset="0"/>
              </a:rPr>
              <a:t>Mengakses data siswa, kelas, absensi, onsite, laporan, dan dokumentasi API yang relevan.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141F6FA-AD41-2811-D0EE-427F96F9423C}"/>
              </a:ext>
            </a:extLst>
          </p:cNvPr>
          <p:cNvSpPr/>
          <p:nvPr/>
        </p:nvSpPr>
        <p:spPr>
          <a:xfrm>
            <a:off x="8229600" y="2159000"/>
            <a:ext cx="3429000" cy="22860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C433D1-B1FB-EB8B-C6B7-D3DA4DFEE0D1}"/>
              </a:ext>
            </a:extLst>
          </p:cNvPr>
          <p:cNvSpPr txBox="1"/>
          <p:nvPr/>
        </p:nvSpPr>
        <p:spPr>
          <a:xfrm>
            <a:off x="84328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FC348B-2D7E-4FE4-28BB-F7D4F718B541}"/>
              </a:ext>
            </a:extLst>
          </p:cNvPr>
          <p:cNvSpPr txBox="1"/>
          <p:nvPr/>
        </p:nvSpPr>
        <p:spPr>
          <a:xfrm>
            <a:off x="88900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Admin / developer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F31E16-1713-0A8F-EC87-2DB4917E5884}"/>
              </a:ext>
            </a:extLst>
          </p:cNvPr>
          <p:cNvSpPr txBox="1"/>
          <p:nvPr/>
        </p:nvSpPr>
        <p:spPr>
          <a:xfrm>
            <a:off x="84328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Mengelola user, semester, perangkat, sistem, tim, permission field, file, dan log teknis.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923BCA-4335-F5FB-FEC3-B64FF8788219}"/>
              </a:ext>
            </a:extLst>
          </p:cNvPr>
          <p:cNvSpPr/>
          <p:nvPr/>
        </p:nvSpPr>
        <p:spPr>
          <a:xfrm>
            <a:off x="533400" y="4851400"/>
            <a:ext cx="11125200" cy="850900"/>
          </a:xfrm>
          <a:prstGeom prst="roundRect">
            <a:avLst/>
          </a:prstGeom>
          <a:solidFill>
            <a:srgbClr val="1D2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0322EB-AECB-9B47-7602-E3FC52D34012}"/>
              </a:ext>
            </a:extLst>
          </p:cNvPr>
          <p:cNvSpPr txBox="1"/>
          <p:nvPr/>
        </p:nvSpPr>
        <p:spPr>
          <a:xfrm>
            <a:off x="762000" y="5080000"/>
            <a:ext cx="1143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Prinsip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8D239-F462-EC18-40B0-590A62878788}"/>
              </a:ext>
            </a:extLst>
          </p:cNvPr>
          <p:cNvSpPr txBox="1"/>
          <p:nvPr/>
        </p:nvSpPr>
        <p:spPr>
          <a:xfrm>
            <a:off x="1905000" y="5041900"/>
            <a:ext cx="93726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Hak akses mengikuti kebutuhan kerja; surface sensitif tidak menjadi bagian dari halaman publik dan ditandai no-index.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235C64-D108-2EAF-86B9-5DFA3962D92D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AA9E2BE-7ACB-DD3C-F534-FD8BC39CD11B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236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270939-FC90-93FA-1C09-1C8C7DF644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ED3DD-F47E-BEBD-B576-DDD827EE1239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AUDITABILITY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9E00EE-C5C2-2ED5-981B-C13BF0AFE9C1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Ketika terjadi masalah, sistem menyediakan jejak untuk ditelusuri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3DC22B-B0AF-A87A-115E-A0F53660242D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Observability hadir pada level pengguna, kehadiran, perangkat onsite, dan sistem.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98A437-04F5-F411-877E-90103BC8FFF3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11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744D43-5F54-38C9-005D-950C314E553C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04F326-3925-5FF6-06D3-C7E35170054F}"/>
              </a:ext>
            </a:extLst>
          </p:cNvPr>
          <p:cNvSpPr/>
          <p:nvPr/>
        </p:nvSpPr>
        <p:spPr>
          <a:xfrm>
            <a:off x="533400" y="2222500"/>
            <a:ext cx="2603500" cy="1803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D71130-CE1F-E70D-3C9E-679172FA42CD}"/>
              </a:ext>
            </a:extLst>
          </p:cNvPr>
          <p:cNvSpPr txBox="1"/>
          <p:nvPr/>
        </p:nvSpPr>
        <p:spPr>
          <a:xfrm>
            <a:off x="736600" y="2400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18BE8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3E249-3380-9AB6-3648-A5BB1A69C93B}"/>
              </a:ext>
            </a:extLst>
          </p:cNvPr>
          <p:cNvSpPr txBox="1"/>
          <p:nvPr/>
        </p:nvSpPr>
        <p:spPr>
          <a:xfrm>
            <a:off x="1193800" y="2387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Log kehadiran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3AFD34-ADC0-73EF-805E-8A722CD78397}"/>
              </a:ext>
            </a:extLst>
          </p:cNvPr>
          <p:cNvSpPr txBox="1"/>
          <p:nvPr/>
        </p:nvSpPr>
        <p:spPr>
          <a:xfrm>
            <a:off x="736600" y="2857500"/>
            <a:ext cx="2197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fi-FI" sz="1100">
                <a:solidFill>
                  <a:srgbClr val="AEB5C1"/>
                </a:solidFill>
                <a:latin typeface="Aptos" panose="020B0004020202020204" pitchFamily="34" charset="0"/>
              </a:rPr>
              <a:t>Siapa, kapan, status apa, dan konteks siswa.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D22714-1A55-1E02-5717-5CD6FCBECFAB}"/>
              </a:ext>
            </a:extLst>
          </p:cNvPr>
          <p:cNvSpPr/>
          <p:nvPr/>
        </p:nvSpPr>
        <p:spPr>
          <a:xfrm>
            <a:off x="3340100" y="2222500"/>
            <a:ext cx="2603500" cy="1803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B086DE-AFB4-C915-BD3C-C2F70BC8F584}"/>
              </a:ext>
            </a:extLst>
          </p:cNvPr>
          <p:cNvSpPr txBox="1"/>
          <p:nvPr/>
        </p:nvSpPr>
        <p:spPr>
          <a:xfrm>
            <a:off x="3543300" y="2400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4597FF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3EDAF-B76C-5EDD-8D5B-C93725383013}"/>
              </a:ext>
            </a:extLst>
          </p:cNvPr>
          <p:cNvSpPr txBox="1"/>
          <p:nvPr/>
        </p:nvSpPr>
        <p:spPr>
          <a:xfrm>
            <a:off x="4000500" y="2387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Log login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F3D025-8D62-D956-6C9F-70B231C4FD93}"/>
              </a:ext>
            </a:extLst>
          </p:cNvPr>
          <p:cNvSpPr txBox="1"/>
          <p:nvPr/>
        </p:nvSpPr>
        <p:spPr>
          <a:xfrm>
            <a:off x="3543300" y="2857500"/>
            <a:ext cx="2197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fi-FI" sz="1100">
                <a:solidFill>
                  <a:srgbClr val="AEB5C1"/>
                </a:solidFill>
                <a:latin typeface="Aptos" panose="020B0004020202020204" pitchFamily="34" charset="0"/>
              </a:rPr>
              <a:t>Aktivitas autentikasi dan role pengguna.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4E641E-7F78-96D9-4B52-29750F279543}"/>
              </a:ext>
            </a:extLst>
          </p:cNvPr>
          <p:cNvSpPr/>
          <p:nvPr/>
        </p:nvSpPr>
        <p:spPr>
          <a:xfrm>
            <a:off x="6146800" y="2222500"/>
            <a:ext cx="2603500" cy="1803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DBB7E0-A588-7FAA-B836-152507D87A57}"/>
              </a:ext>
            </a:extLst>
          </p:cNvPr>
          <p:cNvSpPr txBox="1"/>
          <p:nvPr/>
        </p:nvSpPr>
        <p:spPr>
          <a:xfrm>
            <a:off x="6350000" y="2400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6437AB-8D75-3D13-1195-94EEF38C9E01}"/>
              </a:ext>
            </a:extLst>
          </p:cNvPr>
          <p:cNvSpPr txBox="1"/>
          <p:nvPr/>
        </p:nvSpPr>
        <p:spPr>
          <a:xfrm>
            <a:off x="6807200" y="2387600"/>
            <a:ext cx="1765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Log onsite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B40088-2BC8-E6F2-CB2C-3C38DA14F033}"/>
              </a:ext>
            </a:extLst>
          </p:cNvPr>
          <p:cNvSpPr txBox="1"/>
          <p:nvPr/>
        </p:nvSpPr>
        <p:spPr>
          <a:xfrm>
            <a:off x="6350000" y="2857500"/>
            <a:ext cx="21971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Kejadian yang berkaitan dengan titik/perangkat di lokasi.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B3B6CB0-80F3-9F94-884C-99D9CE81E349}"/>
              </a:ext>
            </a:extLst>
          </p:cNvPr>
          <p:cNvSpPr/>
          <p:nvPr/>
        </p:nvSpPr>
        <p:spPr>
          <a:xfrm>
            <a:off x="8953500" y="2222500"/>
            <a:ext cx="2705100" cy="1803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DEE2C-0322-9581-B359-4C463E165A6C}"/>
              </a:ext>
            </a:extLst>
          </p:cNvPr>
          <p:cNvSpPr txBox="1"/>
          <p:nvPr/>
        </p:nvSpPr>
        <p:spPr>
          <a:xfrm>
            <a:off x="9156700" y="2400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F4B66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50E39B-0B05-DEAF-621E-CC0B3A34E67C}"/>
              </a:ext>
            </a:extLst>
          </p:cNvPr>
          <p:cNvSpPr txBox="1"/>
          <p:nvPr/>
        </p:nvSpPr>
        <p:spPr>
          <a:xfrm>
            <a:off x="9613900" y="2387600"/>
            <a:ext cx="18669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Log error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BD856-967A-7F30-9DEB-D0B07D57B797}"/>
              </a:ext>
            </a:extLst>
          </p:cNvPr>
          <p:cNvSpPr txBox="1"/>
          <p:nvPr/>
        </p:nvSpPr>
        <p:spPr>
          <a:xfrm>
            <a:off x="9156700" y="2857500"/>
            <a:ext cx="22987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Informasi teknis untuk developer saat integrasi atau proses gagal.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9E7DDE-533B-9969-8D94-CCACF58D499B}"/>
              </a:ext>
            </a:extLst>
          </p:cNvPr>
          <p:cNvSpPr txBox="1"/>
          <p:nvPr/>
        </p:nvSpPr>
        <p:spPr>
          <a:xfrm>
            <a:off x="1016000" y="4635500"/>
            <a:ext cx="10160000" cy="63607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900" b="1">
                <a:solidFill>
                  <a:srgbClr val="F8F9FB"/>
                </a:solidFill>
                <a:latin typeface="Aptos" panose="020B0004020202020204" pitchFamily="34" charset="0"/>
              </a:rPr>
              <a:t>Tujuan akhirnya bukan sekadar menyimpan log, tetapi memperpendek waktu dari 'ada masalah' menjadi 'tahu penyebab dan tindakan berikutnya'.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F77D38-8D91-AAEB-7748-91ACBC6F1FBF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E2C93F6-4784-B400-5CFC-EB7F25E5E677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39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CAADE0-8C99-461B-003D-35A73DF0A3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341EC4-44E1-55AD-63B8-8C25827CF467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ARSITEKTUR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EB345-2222-B887-17E8-965A2B930FE3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Lapisan teknologi GASKAN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066B29-A863-3B87-F96E-C57F2E18F7F4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Frontend yang terlihat pada repository ini berkomunikasi dengan backend production melalui REST dan Socket.IO.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E54536-D1D9-7406-1961-244BD63BA6F6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E623CD-22F4-20BC-0913-19179CAB6B35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E5F3C9-9C2A-51B0-3B87-5B1A1F4F3FDF}"/>
              </a:ext>
            </a:extLst>
          </p:cNvPr>
          <p:cNvSpPr/>
          <p:nvPr/>
        </p:nvSpPr>
        <p:spPr>
          <a:xfrm>
            <a:off x="533400" y="2006600"/>
            <a:ext cx="11125200" cy="609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9B29B7-13D3-3C4E-6422-201313C5B719}"/>
              </a:ext>
            </a:extLst>
          </p:cNvPr>
          <p:cNvSpPr/>
          <p:nvPr/>
        </p:nvSpPr>
        <p:spPr>
          <a:xfrm>
            <a:off x="533400" y="2006600"/>
            <a:ext cx="1841500" cy="609600"/>
          </a:xfrm>
          <a:prstGeom prst="roundRect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B98470-34C1-FDAF-11CB-7F4883DCB771}"/>
              </a:ext>
            </a:extLst>
          </p:cNvPr>
          <p:cNvSpPr txBox="1"/>
          <p:nvPr/>
        </p:nvSpPr>
        <p:spPr>
          <a:xfrm>
            <a:off x="609600" y="2209800"/>
            <a:ext cx="1689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EXPERIENCE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25767-A5E2-CE1E-4420-EEB157C30DFE}"/>
              </a:ext>
            </a:extLst>
          </p:cNvPr>
          <p:cNvSpPr txBox="1"/>
          <p:nvPr/>
        </p:nvSpPr>
        <p:spPr>
          <a:xfrm>
            <a:off x="2641600" y="2171700"/>
            <a:ext cx="876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8F9FB"/>
                </a:solidFill>
                <a:latin typeface="Aptos" panose="020B0004020202020204" pitchFamily="34" charset="0"/>
              </a:rPr>
              <a:t>Next.js 16.2 | React 19 | App Router | responsive dashboard</a:t>
            </a:r>
            <a:endParaRPr lang="en-ID" sz="13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E7A998E-7EC3-152C-DC50-E5ED935982B7}"/>
              </a:ext>
            </a:extLst>
          </p:cNvPr>
          <p:cNvSpPr/>
          <p:nvPr/>
        </p:nvSpPr>
        <p:spPr>
          <a:xfrm>
            <a:off x="533400" y="2819400"/>
            <a:ext cx="11125200" cy="609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FE7AB44-6808-16F5-B4A5-193A9932D112}"/>
              </a:ext>
            </a:extLst>
          </p:cNvPr>
          <p:cNvSpPr/>
          <p:nvPr/>
        </p:nvSpPr>
        <p:spPr>
          <a:xfrm>
            <a:off x="533400" y="2819400"/>
            <a:ext cx="1841500" cy="609600"/>
          </a:xfrm>
          <a:prstGeom prst="roundRect">
            <a:avLst/>
          </a:prstGeom>
          <a:solidFill>
            <a:srgbClr val="FFAE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0018C6-9906-AEBC-50F8-4E32BFAB9EF6}"/>
              </a:ext>
            </a:extLst>
          </p:cNvPr>
          <p:cNvSpPr txBox="1"/>
          <p:nvPr/>
        </p:nvSpPr>
        <p:spPr>
          <a:xfrm>
            <a:off x="609600" y="3022600"/>
            <a:ext cx="1689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INTERACTION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B4DB90-D7DC-9FB1-EDD6-4CCE427A6B49}"/>
              </a:ext>
            </a:extLst>
          </p:cNvPr>
          <p:cNvSpPr txBox="1"/>
          <p:nvPr/>
        </p:nvSpPr>
        <p:spPr>
          <a:xfrm>
            <a:off x="2641600" y="2984500"/>
            <a:ext cx="876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300" b="1">
                <a:solidFill>
                  <a:srgbClr val="F8F9FB"/>
                </a:solidFill>
                <a:latin typeface="Aptos" panose="020B0004020202020204" pitchFamily="34" charset="0"/>
              </a:rPr>
              <a:t>Tailwind CSS 4 | shadcn/base-ui | TanStack Table | Framer Motion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78F668-F258-DC76-C232-0BD0C94AD7C5}"/>
              </a:ext>
            </a:extLst>
          </p:cNvPr>
          <p:cNvSpPr/>
          <p:nvPr/>
        </p:nvSpPr>
        <p:spPr>
          <a:xfrm>
            <a:off x="533400" y="3632200"/>
            <a:ext cx="11125200" cy="609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B356B8C-5742-03E0-855A-29CEDDECC5CA}"/>
              </a:ext>
            </a:extLst>
          </p:cNvPr>
          <p:cNvSpPr/>
          <p:nvPr/>
        </p:nvSpPr>
        <p:spPr>
          <a:xfrm>
            <a:off x="533400" y="3632200"/>
            <a:ext cx="1841500" cy="609600"/>
          </a:xfrm>
          <a:prstGeom prst="roundRect">
            <a:avLst/>
          </a:prstGeom>
          <a:solidFill>
            <a:srgbClr val="4597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525C42-B535-26FF-DDEE-A43CAE260F5F}"/>
              </a:ext>
            </a:extLst>
          </p:cNvPr>
          <p:cNvSpPr txBox="1"/>
          <p:nvPr/>
        </p:nvSpPr>
        <p:spPr>
          <a:xfrm>
            <a:off x="609600" y="3835400"/>
            <a:ext cx="1689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DATA FLOW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0DB61F-CF2B-6843-9147-3E636AB8C6F2}"/>
              </a:ext>
            </a:extLst>
          </p:cNvPr>
          <p:cNvSpPr txBox="1"/>
          <p:nvPr/>
        </p:nvSpPr>
        <p:spPr>
          <a:xfrm>
            <a:off x="2641600" y="3797300"/>
            <a:ext cx="876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300" b="1">
                <a:solidFill>
                  <a:srgbClr val="F8F9FB"/>
                </a:solidFill>
                <a:latin typeface="Aptos" panose="020B0004020202020204" pitchFamily="34" charset="0"/>
              </a:rPr>
              <a:t>Axios REST client | Next route handlers/proxy | Socket.IO client</a:t>
            </a:r>
            <a:endParaRPr lang="en-ID" sz="13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E08F8A7-13CD-9C0A-5C68-9BA5106B991F}"/>
              </a:ext>
            </a:extLst>
          </p:cNvPr>
          <p:cNvSpPr/>
          <p:nvPr/>
        </p:nvSpPr>
        <p:spPr>
          <a:xfrm>
            <a:off x="533400" y="4445000"/>
            <a:ext cx="11125200" cy="609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48BD65-B0C3-7218-B1F5-153B59842141}"/>
              </a:ext>
            </a:extLst>
          </p:cNvPr>
          <p:cNvSpPr/>
          <p:nvPr/>
        </p:nvSpPr>
        <p:spPr>
          <a:xfrm>
            <a:off x="533400" y="4445000"/>
            <a:ext cx="1841500" cy="609600"/>
          </a:xfrm>
          <a:prstGeom prst="roundRect">
            <a:avLst/>
          </a:prstGeom>
          <a:solidFill>
            <a:srgbClr val="18BE8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EB3592-60F9-BEB7-C413-F0C290463278}"/>
              </a:ext>
            </a:extLst>
          </p:cNvPr>
          <p:cNvSpPr txBox="1"/>
          <p:nvPr/>
        </p:nvSpPr>
        <p:spPr>
          <a:xfrm>
            <a:off x="609600" y="4648200"/>
            <a:ext cx="1689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DOMAIN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E4D95-BCD2-F6F2-7A79-013E3C797850}"/>
              </a:ext>
            </a:extLst>
          </p:cNvPr>
          <p:cNvSpPr txBox="1"/>
          <p:nvPr/>
        </p:nvSpPr>
        <p:spPr>
          <a:xfrm>
            <a:off x="2641600" y="4610100"/>
            <a:ext cx="876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300" b="1">
                <a:solidFill>
                  <a:srgbClr val="F8F9FB"/>
                </a:solidFill>
                <a:latin typeface="Aptos" panose="020B0004020202020204" pitchFamily="34" charset="0"/>
              </a:rPr>
              <a:t>Kehadiran | siswa | kelas | semester | izin | perangkat | log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1D674F0-FA1B-DF62-A1B3-43C166B94B95}"/>
              </a:ext>
            </a:extLst>
          </p:cNvPr>
          <p:cNvSpPr/>
          <p:nvPr/>
        </p:nvSpPr>
        <p:spPr>
          <a:xfrm>
            <a:off x="533400" y="5257800"/>
            <a:ext cx="11125200" cy="609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0DDC2B9-DA23-F410-3761-52C1A380EC4F}"/>
              </a:ext>
            </a:extLst>
          </p:cNvPr>
          <p:cNvSpPr/>
          <p:nvPr/>
        </p:nvSpPr>
        <p:spPr>
          <a:xfrm>
            <a:off x="533400" y="5257800"/>
            <a:ext cx="1841500" cy="609600"/>
          </a:xfrm>
          <a:prstGeom prst="roundRect">
            <a:avLst/>
          </a:prstGeom>
          <a:solidFill>
            <a:srgbClr val="FF4B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0B5702-2979-A30E-5E3A-C376E503587E}"/>
              </a:ext>
            </a:extLst>
          </p:cNvPr>
          <p:cNvSpPr txBox="1"/>
          <p:nvPr/>
        </p:nvSpPr>
        <p:spPr>
          <a:xfrm>
            <a:off x="609600" y="5461000"/>
            <a:ext cx="16891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DEVICE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556CDF-E4E6-67FE-939F-3161D0FAE999}"/>
              </a:ext>
            </a:extLst>
          </p:cNvPr>
          <p:cNvSpPr txBox="1"/>
          <p:nvPr/>
        </p:nvSpPr>
        <p:spPr>
          <a:xfrm>
            <a:off x="2641600" y="5422900"/>
            <a:ext cx="8763000" cy="25135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300" b="1">
                <a:solidFill>
                  <a:srgbClr val="F8F9FB"/>
                </a:solidFill>
                <a:latin typeface="Aptos" panose="020B0004020202020204" pitchFamily="34" charset="0"/>
              </a:rPr>
              <a:t>Mesin absensi / perangkat identifikasi | backend API | persistent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54061C-D00F-3FB7-31DF-C926AC0A29C0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E9ED48E-6624-96E3-1F9B-2F31C4D58C88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04829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C73A5D-7CE2-F84A-776E-2DFC0904CB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DC0B3-84D1-4C81-3F81-2F23E3C73792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5BE66-CDB1-46B4-1803-401DC893CA12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it-IT" sz="2700" b="1">
                <a:solidFill>
                  <a:srgbClr val="F8F9FB"/>
                </a:solidFill>
                <a:latin typeface="Aptos" panose="020B0004020202020204" pitchFamily="34" charset="0"/>
              </a:rPr>
              <a:t>Mengapa fondasi frontend ini penting?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8551C-D645-18C8-2E2B-F3824ABE0869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fi-FI" sz="1200">
                <a:solidFill>
                  <a:srgbClr val="AEB5C1"/>
                </a:solidFill>
                <a:latin typeface="Aptos" panose="020B0004020202020204" pitchFamily="34" charset="0"/>
              </a:rPr>
              <a:t>Pilihan teknis diarahkan pada performa, konsistensi, maintainability, dan pengalaman lintas perangkat.</a:t>
            </a:r>
            <a:endParaRPr lang="en-ID" sz="12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03ABDF-AC82-309E-718D-E81854B1E6CD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747387-8B82-637C-CC7D-98637FFC3C9A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F5B42F-E385-3AFD-DEF9-3F58B61FB87D}"/>
              </a:ext>
            </a:extLst>
          </p:cNvPr>
          <p:cNvSpPr/>
          <p:nvPr/>
        </p:nvSpPr>
        <p:spPr>
          <a:xfrm>
            <a:off x="533400" y="2095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B4D931-BFA6-7F71-52BF-EB7614BC05F4}"/>
              </a:ext>
            </a:extLst>
          </p:cNvPr>
          <p:cNvSpPr txBox="1"/>
          <p:nvPr/>
        </p:nvSpPr>
        <p:spPr>
          <a:xfrm>
            <a:off x="7366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98DA7D-A08B-A731-1E3D-4B939071B353}"/>
              </a:ext>
            </a:extLst>
          </p:cNvPr>
          <p:cNvSpPr txBox="1"/>
          <p:nvPr/>
        </p:nvSpPr>
        <p:spPr>
          <a:xfrm>
            <a:off x="1193800" y="2260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App Router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6946E-6756-DCCB-C4CD-8937BE069D34}"/>
              </a:ext>
            </a:extLst>
          </p:cNvPr>
          <p:cNvSpPr txBox="1"/>
          <p:nvPr/>
        </p:nvSpPr>
        <p:spPr>
          <a:xfrm>
            <a:off x="736600" y="2730500"/>
            <a:ext cx="3022600" cy="55912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Struktur route terpisah untuk public, auth, dashboard, API proxy, metadata, sitemap, dan robots.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AD49C84-EB9A-F142-8A97-566DBE9A5926}"/>
              </a:ext>
            </a:extLst>
          </p:cNvPr>
          <p:cNvSpPr/>
          <p:nvPr/>
        </p:nvSpPr>
        <p:spPr>
          <a:xfrm>
            <a:off x="4381500" y="2095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086A57-1F35-420E-50A6-604C61EF7EDE}"/>
              </a:ext>
            </a:extLst>
          </p:cNvPr>
          <p:cNvSpPr txBox="1"/>
          <p:nvPr/>
        </p:nvSpPr>
        <p:spPr>
          <a:xfrm>
            <a:off x="45847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78751F-6162-1119-F87D-AF78CE61A5F4}"/>
              </a:ext>
            </a:extLst>
          </p:cNvPr>
          <p:cNvSpPr txBox="1"/>
          <p:nvPr/>
        </p:nvSpPr>
        <p:spPr>
          <a:xfrm>
            <a:off x="5041900" y="2260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Komponen reusable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0A937B-470A-77D8-C8E7-86870E4A785F}"/>
              </a:ext>
            </a:extLst>
          </p:cNvPr>
          <p:cNvSpPr txBox="1"/>
          <p:nvPr/>
        </p:nvSpPr>
        <p:spPr>
          <a:xfrm>
            <a:off x="4584700" y="27305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Table, pagination, skeleton, dialog, export, page header, dan shell mengurangi inkonsistensi UI.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021C88-CC24-874D-5E85-4ED05874AB06}"/>
              </a:ext>
            </a:extLst>
          </p:cNvPr>
          <p:cNvSpPr/>
          <p:nvPr/>
        </p:nvSpPr>
        <p:spPr>
          <a:xfrm>
            <a:off x="8229600" y="2095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C6709-E49E-B547-21EA-6E8D3A690AD3}"/>
              </a:ext>
            </a:extLst>
          </p:cNvPr>
          <p:cNvSpPr txBox="1"/>
          <p:nvPr/>
        </p:nvSpPr>
        <p:spPr>
          <a:xfrm>
            <a:off x="8432800" y="2273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31F8E6-D40B-E6E0-7139-F2E7E34475F9}"/>
              </a:ext>
            </a:extLst>
          </p:cNvPr>
          <p:cNvSpPr txBox="1"/>
          <p:nvPr/>
        </p:nvSpPr>
        <p:spPr>
          <a:xfrm>
            <a:off x="8890000" y="2260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Data-rich UI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C1099-DE2E-9868-1FC2-C1A225B562E0}"/>
              </a:ext>
            </a:extLst>
          </p:cNvPr>
          <p:cNvSpPr txBox="1"/>
          <p:nvPr/>
        </p:nvSpPr>
        <p:spPr>
          <a:xfrm>
            <a:off x="8432800" y="27305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TanStack Table, ExcelJS, jsPDF, dan filter mendukung operasi data yang padat.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19694BD-455E-F5DA-8FD7-61EF483DF19F}"/>
              </a:ext>
            </a:extLst>
          </p:cNvPr>
          <p:cNvSpPr/>
          <p:nvPr/>
        </p:nvSpPr>
        <p:spPr>
          <a:xfrm>
            <a:off x="533400" y="4127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48D23D-22B8-DD37-254F-69C96CE16E4C}"/>
              </a:ext>
            </a:extLst>
          </p:cNvPr>
          <p:cNvSpPr txBox="1"/>
          <p:nvPr/>
        </p:nvSpPr>
        <p:spPr>
          <a:xfrm>
            <a:off x="736600" y="4305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A4BE7-B204-B191-F354-B19BD276C5CE}"/>
              </a:ext>
            </a:extLst>
          </p:cNvPr>
          <p:cNvSpPr txBox="1"/>
          <p:nvPr/>
        </p:nvSpPr>
        <p:spPr>
          <a:xfrm>
            <a:off x="1193800" y="4292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Progressive 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AAA1F-CF6D-9380-0E39-47D000050C10}"/>
              </a:ext>
            </a:extLst>
          </p:cNvPr>
          <p:cNvSpPr txBox="1"/>
          <p:nvPr/>
        </p:nvSpPr>
        <p:spPr>
          <a:xfrm>
            <a:off x="736600" y="47625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Skeleton page dan toast membuat perpindahan serta aksi terasa lebih jelas.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8180EA6-7C08-CBC6-E82F-2F16B6F81B7A}"/>
              </a:ext>
            </a:extLst>
          </p:cNvPr>
          <p:cNvSpPr/>
          <p:nvPr/>
        </p:nvSpPr>
        <p:spPr>
          <a:xfrm>
            <a:off x="4381500" y="4127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4DA3B5-95CE-81D6-52EB-D7EE58D82C96}"/>
              </a:ext>
            </a:extLst>
          </p:cNvPr>
          <p:cNvSpPr txBox="1"/>
          <p:nvPr/>
        </p:nvSpPr>
        <p:spPr>
          <a:xfrm>
            <a:off x="4584700" y="4305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74E1B7-1987-AB90-988F-7A98300862C2}"/>
              </a:ext>
            </a:extLst>
          </p:cNvPr>
          <p:cNvSpPr txBox="1"/>
          <p:nvPr/>
        </p:nvSpPr>
        <p:spPr>
          <a:xfrm>
            <a:off x="5041900" y="4292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SEO publik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E3EA56-A522-63B1-7384-F7078B00D15B}"/>
              </a:ext>
            </a:extLst>
          </p:cNvPr>
          <p:cNvSpPr txBox="1"/>
          <p:nvPr/>
        </p:nvSpPr>
        <p:spPr>
          <a:xfrm>
            <a:off x="4584700" y="47625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Landing/team memakai metadata, canonical, Open Graph, JSON-LD, sitemap, dan robots.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CEB7521-E43B-854A-72CF-C2190FAE4D2D}"/>
              </a:ext>
            </a:extLst>
          </p:cNvPr>
          <p:cNvSpPr/>
          <p:nvPr/>
        </p:nvSpPr>
        <p:spPr>
          <a:xfrm>
            <a:off x="8229600" y="41275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C6D68-BE53-C886-448E-042CDE44898B}"/>
              </a:ext>
            </a:extLst>
          </p:cNvPr>
          <p:cNvSpPr txBox="1"/>
          <p:nvPr/>
        </p:nvSpPr>
        <p:spPr>
          <a:xfrm>
            <a:off x="8432800" y="43053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493231-3037-D831-6EB7-2F0266115AE5}"/>
              </a:ext>
            </a:extLst>
          </p:cNvPr>
          <p:cNvSpPr txBox="1"/>
          <p:nvPr/>
        </p:nvSpPr>
        <p:spPr>
          <a:xfrm>
            <a:off x="8890000" y="42926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Private by design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1E474D-2001-C4D0-B28C-90C00954F4BD}"/>
              </a:ext>
            </a:extLst>
          </p:cNvPr>
          <p:cNvSpPr txBox="1"/>
          <p:nvPr/>
        </p:nvSpPr>
        <p:spPr>
          <a:xfrm>
            <a:off x="8432800" y="47625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Dashboard dan auth diberi metadata no-index; route API diproksi dengan token pengguna.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752EA09-E511-4E8B-3E89-5D263BA57FAB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8742AA6-804D-6648-11CD-63DF3DBACDD6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06503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3BBC2D-4977-61DB-6614-E739ACE80A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D60C2-17D7-BD4E-B8E6-C7C20908B303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RESPONSIVE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8778B-54BD-11D4-193E-8290F1179FD1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Informasi tetap dapat digunakan di desktop maupun ponsel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113A4-96AB-8013-2005-D0A1139C96AA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Repository menyertakan baseline screenshot lintas viewport untuk landing, login, dashboard, kalender, monitor, siswa, dan tim.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5F7184-F1F5-C47D-8FCA-B8595E7A6E1D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056680-B84C-BF84-F59C-BC9D1773FE69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BCE5A40-CF8F-4B71-3915-2D113973F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5035" y="2603335"/>
            <a:ext cx="4775730" cy="29848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34D2DF7-B96D-9D57-B214-34D9BD910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47520" y="2826974"/>
            <a:ext cx="1154960" cy="24994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ABE895-6936-D7EA-F47B-B61A60FA269D}"/>
              </a:ext>
            </a:extLst>
          </p:cNvPr>
          <p:cNvSpPr txBox="1"/>
          <p:nvPr/>
        </p:nvSpPr>
        <p:spPr>
          <a:xfrm>
            <a:off x="3238500" y="6184900"/>
            <a:ext cx="18415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1440 x 900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234D2C-4CB7-FFCA-4020-12E617CB5681}"/>
              </a:ext>
            </a:extLst>
          </p:cNvPr>
          <p:cNvSpPr txBox="1"/>
          <p:nvPr/>
        </p:nvSpPr>
        <p:spPr>
          <a:xfrm>
            <a:off x="8572500" y="6184900"/>
            <a:ext cx="1905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390 x 844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8EEDFF-F9E9-3062-653D-D46F2B8E0267}"/>
              </a:ext>
            </a:extLst>
          </p:cNvPr>
          <p:cNvSpPr txBox="1"/>
          <p:nvPr/>
        </p:nvSpPr>
        <p:spPr>
          <a:xfrm>
            <a:off x="8001000" y="23622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200" b="1">
                <a:solidFill>
                  <a:srgbClr val="F2C300"/>
                </a:solidFill>
                <a:latin typeface="Aptos" panose="020B0004020202020204" pitchFamily="34" charset="0"/>
              </a:rPr>
              <a:t>Desktop: densitas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9FD73C-5AC3-CF3D-63B0-3730B868C0D5}"/>
              </a:ext>
            </a:extLst>
          </p:cNvPr>
          <p:cNvSpPr txBox="1"/>
          <p:nvPr/>
        </p:nvSpPr>
        <p:spPr>
          <a:xfrm>
            <a:off x="8001000" y="5664200"/>
            <a:ext cx="3810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ctr"/>
            <a:r>
              <a:rPr lang="en-ID" sz="1200" b="1">
                <a:solidFill>
                  <a:srgbClr val="F2C300"/>
                </a:solidFill>
                <a:latin typeface="Aptos" panose="020B0004020202020204" pitchFamily="34" charset="0"/>
              </a:rPr>
              <a:t>Mobile: prioritas aksi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AD37CA-4209-AD90-74F5-8F8B73F508EF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F503265-C6A2-2A3A-691A-F178AB0A32C4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3374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EE1F5E-5CF8-12FD-B6C3-CA7153F700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7FF75-BB23-5FD9-F459-818D84E9161F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CAKUPAN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8D076-7506-5E81-F1EE-B61D945AE5A1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Peta kemampuan yang sudah terlihat di aplikasi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D33B7D-3F58-D512-4D26-8E2AA6159896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Lebih dari sekadar modul presensi: GASKAN mencakup operasi, administrasi, dan engineering support.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94FA7C-5193-4DCA-0A6D-69376C8D36CB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F907DF-6238-6EEE-111C-564A8FBE620A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D3A742-76EC-768C-1376-91D5D7B5E4A3}"/>
              </a:ext>
            </a:extLst>
          </p:cNvPr>
          <p:cNvSpPr/>
          <p:nvPr/>
        </p:nvSpPr>
        <p:spPr>
          <a:xfrm>
            <a:off x="533400" y="2070100"/>
            <a:ext cx="2552700" cy="3911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02FF2-A5B0-D72E-4683-06B1B91E2C84}"/>
              </a:ext>
            </a:extLst>
          </p:cNvPr>
          <p:cNvSpPr txBox="1"/>
          <p:nvPr/>
        </p:nvSpPr>
        <p:spPr>
          <a:xfrm>
            <a:off x="736600" y="2298700"/>
            <a:ext cx="2146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2C300"/>
                </a:solidFill>
                <a:latin typeface="Aptos" panose="020B0004020202020204" pitchFamily="34" charset="0"/>
              </a:rPr>
              <a:t>Operasi Harian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6AD6824-961D-6479-65BF-826C6839DA11}"/>
              </a:ext>
            </a:extLst>
          </p:cNvPr>
          <p:cNvCxnSpPr/>
          <p:nvPr/>
        </p:nvCxnSpPr>
        <p:spPr>
          <a:xfrm>
            <a:off x="736600" y="2743200"/>
            <a:ext cx="21463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7233951-6E5E-EE8A-4A28-1F3161C43BD8}"/>
              </a:ext>
            </a:extLst>
          </p:cNvPr>
          <p:cNvSpPr/>
          <p:nvPr/>
        </p:nvSpPr>
        <p:spPr>
          <a:xfrm>
            <a:off x="762000" y="30734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B3F7D0-67D8-31AE-EFED-7E5B0CBD41D5}"/>
              </a:ext>
            </a:extLst>
          </p:cNvPr>
          <p:cNvSpPr txBox="1"/>
          <p:nvPr/>
        </p:nvSpPr>
        <p:spPr>
          <a:xfrm>
            <a:off x="990600" y="29845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8D8B1F-BAA8-FBA8-84CE-05F1506DF9A6}"/>
              </a:ext>
            </a:extLst>
          </p:cNvPr>
          <p:cNvSpPr/>
          <p:nvPr/>
        </p:nvSpPr>
        <p:spPr>
          <a:xfrm>
            <a:off x="762000" y="36195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2373D-5106-C366-A58B-A9BEF567F42F}"/>
              </a:ext>
            </a:extLst>
          </p:cNvPr>
          <p:cNvSpPr txBox="1"/>
          <p:nvPr/>
        </p:nvSpPr>
        <p:spPr>
          <a:xfrm>
            <a:off x="990600" y="35306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Monitor kiri/kanan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0CBC5F-3D95-B60E-5861-E28A9883E05E}"/>
              </a:ext>
            </a:extLst>
          </p:cNvPr>
          <p:cNvSpPr/>
          <p:nvPr/>
        </p:nvSpPr>
        <p:spPr>
          <a:xfrm>
            <a:off x="762000" y="41656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57B08D-D57C-A84E-81EE-B38A0CB8A781}"/>
              </a:ext>
            </a:extLst>
          </p:cNvPr>
          <p:cNvSpPr txBox="1"/>
          <p:nvPr/>
        </p:nvSpPr>
        <p:spPr>
          <a:xfrm>
            <a:off x="990600" y="40767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Absensi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5117EB-AFF6-0D58-1045-F207CED9D130}"/>
              </a:ext>
            </a:extLst>
          </p:cNvPr>
          <p:cNvSpPr/>
          <p:nvPr/>
        </p:nvSpPr>
        <p:spPr>
          <a:xfrm>
            <a:off x="762000" y="47117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8FB3C-F7F6-09E7-0FFA-8DE7832306CB}"/>
              </a:ext>
            </a:extLst>
          </p:cNvPr>
          <p:cNvSpPr txBox="1"/>
          <p:nvPr/>
        </p:nvSpPr>
        <p:spPr>
          <a:xfrm>
            <a:off x="990600" y="46228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Log kehadiran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FB444C-3CD3-8498-E615-4F5997D4164E}"/>
              </a:ext>
            </a:extLst>
          </p:cNvPr>
          <p:cNvSpPr/>
          <p:nvPr/>
        </p:nvSpPr>
        <p:spPr>
          <a:xfrm>
            <a:off x="762000" y="52578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F41E87-2D90-C70C-2D75-4B2BD8DCB699}"/>
              </a:ext>
            </a:extLst>
          </p:cNvPr>
          <p:cNvSpPr txBox="1"/>
          <p:nvPr/>
        </p:nvSpPr>
        <p:spPr>
          <a:xfrm>
            <a:off x="990600" y="51689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Surat izin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78B841-4D2C-F390-8412-B258B7A1FF19}"/>
              </a:ext>
            </a:extLst>
          </p:cNvPr>
          <p:cNvSpPr/>
          <p:nvPr/>
        </p:nvSpPr>
        <p:spPr>
          <a:xfrm>
            <a:off x="3390900" y="2070100"/>
            <a:ext cx="2552700" cy="3911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6F28B0-CE1E-6AE4-E855-79CFBF96D85B}"/>
              </a:ext>
            </a:extLst>
          </p:cNvPr>
          <p:cNvSpPr txBox="1"/>
          <p:nvPr/>
        </p:nvSpPr>
        <p:spPr>
          <a:xfrm>
            <a:off x="3594100" y="2298700"/>
            <a:ext cx="2146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2C300"/>
                </a:solidFill>
                <a:latin typeface="Aptos" panose="020B0004020202020204" pitchFamily="34" charset="0"/>
              </a:rPr>
              <a:t>Data Akademik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E3E68D1-288F-5256-C69C-804D5555A8AB}"/>
              </a:ext>
            </a:extLst>
          </p:cNvPr>
          <p:cNvCxnSpPr/>
          <p:nvPr/>
        </p:nvCxnSpPr>
        <p:spPr>
          <a:xfrm>
            <a:off x="3594100" y="2743200"/>
            <a:ext cx="21463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C1DC80B-6EF6-B758-3060-691832FB981B}"/>
              </a:ext>
            </a:extLst>
          </p:cNvPr>
          <p:cNvSpPr/>
          <p:nvPr/>
        </p:nvSpPr>
        <p:spPr>
          <a:xfrm>
            <a:off x="3619500" y="30734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712446-FE9E-2D97-E66D-C81BBD61455F}"/>
              </a:ext>
            </a:extLst>
          </p:cNvPr>
          <p:cNvSpPr txBox="1"/>
          <p:nvPr/>
        </p:nvSpPr>
        <p:spPr>
          <a:xfrm>
            <a:off x="3848100" y="29845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Siswa &amp; import foto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2746964-7A04-2C3F-AA89-DE0BC04B7D69}"/>
              </a:ext>
            </a:extLst>
          </p:cNvPr>
          <p:cNvSpPr/>
          <p:nvPr/>
        </p:nvSpPr>
        <p:spPr>
          <a:xfrm>
            <a:off x="3619500" y="36195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9447AA-1BBE-B303-15D3-8A9B029266EC}"/>
              </a:ext>
            </a:extLst>
          </p:cNvPr>
          <p:cNvSpPr txBox="1"/>
          <p:nvPr/>
        </p:nvSpPr>
        <p:spPr>
          <a:xfrm>
            <a:off x="3848100" y="35306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Kelas &amp; jurusan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22F3DA1-891A-3BB2-6A4D-63E508D02C2F}"/>
              </a:ext>
            </a:extLst>
          </p:cNvPr>
          <p:cNvSpPr/>
          <p:nvPr/>
        </p:nvSpPr>
        <p:spPr>
          <a:xfrm>
            <a:off x="3619500" y="41656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E09FE3-FEEA-066E-7292-6153E4FE559B}"/>
              </a:ext>
            </a:extLst>
          </p:cNvPr>
          <p:cNvSpPr txBox="1"/>
          <p:nvPr/>
        </p:nvSpPr>
        <p:spPr>
          <a:xfrm>
            <a:off x="3848100" y="40767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Semester aktif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C78AA11-EAFE-5185-B2D7-41AAEA31186A}"/>
              </a:ext>
            </a:extLst>
          </p:cNvPr>
          <p:cNvSpPr/>
          <p:nvPr/>
        </p:nvSpPr>
        <p:spPr>
          <a:xfrm>
            <a:off x="3619500" y="47117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6E6A73-7AE9-7216-6F2D-7B38AEB095F3}"/>
              </a:ext>
            </a:extLst>
          </p:cNvPr>
          <p:cNvSpPr txBox="1"/>
          <p:nvPr/>
        </p:nvSpPr>
        <p:spPr>
          <a:xfrm>
            <a:off x="3848100" y="46228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Kalender akademik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8773E79-5FB5-172C-BBBD-51ABF241FD04}"/>
              </a:ext>
            </a:extLst>
          </p:cNvPr>
          <p:cNvSpPr/>
          <p:nvPr/>
        </p:nvSpPr>
        <p:spPr>
          <a:xfrm>
            <a:off x="3619500" y="52578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F25AF2-55E5-C215-95EA-6E828CC7E55F}"/>
              </a:ext>
            </a:extLst>
          </p:cNvPr>
          <p:cNvSpPr txBox="1"/>
          <p:nvPr/>
        </p:nvSpPr>
        <p:spPr>
          <a:xfrm>
            <a:off x="3848100" y="51689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Reshuffle + histori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2C16BEE-E7E1-ACC2-9707-420390A8CFBF}"/>
              </a:ext>
            </a:extLst>
          </p:cNvPr>
          <p:cNvSpPr/>
          <p:nvPr/>
        </p:nvSpPr>
        <p:spPr>
          <a:xfrm>
            <a:off x="6248400" y="2070100"/>
            <a:ext cx="2552700" cy="3911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C1502-FC17-241E-BF1B-455A3EF4C6CC}"/>
              </a:ext>
            </a:extLst>
          </p:cNvPr>
          <p:cNvSpPr txBox="1"/>
          <p:nvPr/>
        </p:nvSpPr>
        <p:spPr>
          <a:xfrm>
            <a:off x="6451600" y="2298700"/>
            <a:ext cx="2146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2C300"/>
                </a:solidFill>
                <a:latin typeface="Aptos" panose="020B0004020202020204" pitchFamily="34" charset="0"/>
              </a:rPr>
              <a:t>Administrasi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9BC833-1A77-326F-8039-0E2936FAD52E}"/>
              </a:ext>
            </a:extLst>
          </p:cNvPr>
          <p:cNvCxnSpPr/>
          <p:nvPr/>
        </p:nvCxnSpPr>
        <p:spPr>
          <a:xfrm>
            <a:off x="6451600" y="2743200"/>
            <a:ext cx="21463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6180F1EF-74DD-6C99-A2D8-4FB4913B242A}"/>
              </a:ext>
            </a:extLst>
          </p:cNvPr>
          <p:cNvSpPr/>
          <p:nvPr/>
        </p:nvSpPr>
        <p:spPr>
          <a:xfrm>
            <a:off x="6477000" y="30734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139769-7525-E858-D840-74265446BB6B}"/>
              </a:ext>
            </a:extLst>
          </p:cNvPr>
          <p:cNvSpPr txBox="1"/>
          <p:nvPr/>
        </p:nvSpPr>
        <p:spPr>
          <a:xfrm>
            <a:off x="6705600" y="29845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Manajemen user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8107BDF-657C-31DD-1022-AF8820A7642E}"/>
              </a:ext>
            </a:extLst>
          </p:cNvPr>
          <p:cNvSpPr/>
          <p:nvPr/>
        </p:nvSpPr>
        <p:spPr>
          <a:xfrm>
            <a:off x="6477000" y="36195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76E137-125E-CE17-ED2E-126DE4CF790A}"/>
              </a:ext>
            </a:extLst>
          </p:cNvPr>
          <p:cNvSpPr txBox="1"/>
          <p:nvPr/>
        </p:nvSpPr>
        <p:spPr>
          <a:xfrm>
            <a:off x="6705600" y="35306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Import staff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AA95210-B814-F2A7-0072-70C3D749006E}"/>
              </a:ext>
            </a:extLst>
          </p:cNvPr>
          <p:cNvSpPr/>
          <p:nvPr/>
        </p:nvSpPr>
        <p:spPr>
          <a:xfrm>
            <a:off x="6477000" y="41656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FB96974-C12D-D8BA-4320-DB04129326C2}"/>
              </a:ext>
            </a:extLst>
          </p:cNvPr>
          <p:cNvSpPr txBox="1"/>
          <p:nvPr/>
        </p:nvSpPr>
        <p:spPr>
          <a:xfrm>
            <a:off x="6705600" y="40767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Manajemen tim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DC0736F-F1D0-1386-630B-EC15BF690344}"/>
              </a:ext>
            </a:extLst>
          </p:cNvPr>
          <p:cNvSpPr/>
          <p:nvPr/>
        </p:nvSpPr>
        <p:spPr>
          <a:xfrm>
            <a:off x="6477000" y="47117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7361A8-F99C-2C32-4A47-E4CC1AC79758}"/>
              </a:ext>
            </a:extLst>
          </p:cNvPr>
          <p:cNvSpPr txBox="1"/>
          <p:nvPr/>
        </p:nvSpPr>
        <p:spPr>
          <a:xfrm>
            <a:off x="6705600" y="46228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Permission profil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26F1A5-6D60-A7C4-8976-BDCA55DF8227}"/>
              </a:ext>
            </a:extLst>
          </p:cNvPr>
          <p:cNvSpPr/>
          <p:nvPr/>
        </p:nvSpPr>
        <p:spPr>
          <a:xfrm>
            <a:off x="6477000" y="52578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9E265C8-7072-9358-B1DF-697AAADE2EB8}"/>
              </a:ext>
            </a:extLst>
          </p:cNvPr>
          <p:cNvSpPr txBox="1"/>
          <p:nvPr/>
        </p:nvSpPr>
        <p:spPr>
          <a:xfrm>
            <a:off x="6705600" y="51689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Laporan PDF/Excel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FB8D4FEB-4592-00A8-CD96-19B9FCCE003F}"/>
              </a:ext>
            </a:extLst>
          </p:cNvPr>
          <p:cNvSpPr/>
          <p:nvPr/>
        </p:nvSpPr>
        <p:spPr>
          <a:xfrm>
            <a:off x="9105900" y="2070100"/>
            <a:ext cx="2552700" cy="39116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795DF5-F167-1F11-B9A6-F87033AA8845}"/>
              </a:ext>
            </a:extLst>
          </p:cNvPr>
          <p:cNvSpPr txBox="1"/>
          <p:nvPr/>
        </p:nvSpPr>
        <p:spPr>
          <a:xfrm>
            <a:off x="9309100" y="2298700"/>
            <a:ext cx="21463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2C300"/>
                </a:solidFill>
                <a:latin typeface="Aptos" panose="020B0004020202020204" pitchFamily="34" charset="0"/>
              </a:rPr>
              <a:t>Sistem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E513533-42DF-8EE6-1AA0-FDAE6EDFC582}"/>
              </a:ext>
            </a:extLst>
          </p:cNvPr>
          <p:cNvCxnSpPr/>
          <p:nvPr/>
        </p:nvCxnSpPr>
        <p:spPr>
          <a:xfrm>
            <a:off x="9309100" y="2743200"/>
            <a:ext cx="21463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9F46D5D9-9CE8-E806-35AF-41925101C46C}"/>
              </a:ext>
            </a:extLst>
          </p:cNvPr>
          <p:cNvSpPr/>
          <p:nvPr/>
        </p:nvSpPr>
        <p:spPr>
          <a:xfrm>
            <a:off x="9334500" y="30734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1196F34-86D5-4908-BBC3-8B0067F68669}"/>
              </a:ext>
            </a:extLst>
          </p:cNvPr>
          <p:cNvSpPr txBox="1"/>
          <p:nvPr/>
        </p:nvSpPr>
        <p:spPr>
          <a:xfrm>
            <a:off x="9563100" y="29845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Konfigurasi mesin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1DBB3C88-F663-7758-BE43-1D3305BAFB73}"/>
              </a:ext>
            </a:extLst>
          </p:cNvPr>
          <p:cNvSpPr/>
          <p:nvPr/>
        </p:nvSpPr>
        <p:spPr>
          <a:xfrm>
            <a:off x="9334500" y="36195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27DD8B-CC1F-13A6-C936-C781CC6BEC6A}"/>
              </a:ext>
            </a:extLst>
          </p:cNvPr>
          <p:cNvSpPr txBox="1"/>
          <p:nvPr/>
        </p:nvSpPr>
        <p:spPr>
          <a:xfrm>
            <a:off x="9563100" y="35306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Kelola sistem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C15CBEFC-AE6E-40B3-272A-863EEDBD1982}"/>
              </a:ext>
            </a:extLst>
          </p:cNvPr>
          <p:cNvSpPr/>
          <p:nvPr/>
        </p:nvSpPr>
        <p:spPr>
          <a:xfrm>
            <a:off x="9334500" y="41656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B870B1B-E256-EF36-4125-32C1F397C856}"/>
              </a:ext>
            </a:extLst>
          </p:cNvPr>
          <p:cNvSpPr txBox="1"/>
          <p:nvPr/>
        </p:nvSpPr>
        <p:spPr>
          <a:xfrm>
            <a:off x="9563100" y="40767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File explorer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F5F3318-3520-58BC-1ACC-DBB106BE0E28}"/>
              </a:ext>
            </a:extLst>
          </p:cNvPr>
          <p:cNvSpPr/>
          <p:nvPr/>
        </p:nvSpPr>
        <p:spPr>
          <a:xfrm>
            <a:off x="9334500" y="47117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51CAD8C-6442-705D-8FFB-47EBEE0B98C3}"/>
              </a:ext>
            </a:extLst>
          </p:cNvPr>
          <p:cNvSpPr txBox="1"/>
          <p:nvPr/>
        </p:nvSpPr>
        <p:spPr>
          <a:xfrm>
            <a:off x="9563100" y="46228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Log login/error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24B8B39-0A0C-25C5-FAAB-422BB881E72C}"/>
              </a:ext>
            </a:extLst>
          </p:cNvPr>
          <p:cNvSpPr/>
          <p:nvPr/>
        </p:nvSpPr>
        <p:spPr>
          <a:xfrm>
            <a:off x="9334500" y="5257800"/>
            <a:ext cx="101600" cy="101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2FC0AD-42A6-4A0E-3BF8-296138A3EA43}"/>
              </a:ext>
            </a:extLst>
          </p:cNvPr>
          <p:cNvSpPr txBox="1"/>
          <p:nvPr/>
        </p:nvSpPr>
        <p:spPr>
          <a:xfrm>
            <a:off x="9563100" y="5168900"/>
            <a:ext cx="18669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F8F9FB"/>
                </a:solidFill>
                <a:latin typeface="Aptos" panose="020B0004020202020204" pitchFamily="34" charset="0"/>
              </a:rPr>
              <a:t>Dokumentasi API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D9FC45-FD90-2229-EBE5-0E310C9908A9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F47BAC3-5435-54B3-E0D3-E533E77DC76E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3000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DE4AE0-94F6-85DE-5810-ACFFD6AA5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5F5202-C8A0-252A-969E-9A86A3B44D64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INDIKATOR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5DA15-F57B-A114-F998-78178EB660A3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2700" b="1">
                <a:solidFill>
                  <a:srgbClr val="F8F9FB"/>
                </a:solidFill>
                <a:latin typeface="Aptos" panose="020B0004020202020204" pitchFamily="34" charset="0"/>
              </a:rPr>
              <a:t>Bagaimana keberhasilan GASKAN sebaiknya diukur?</a:t>
            </a:r>
            <a:endParaRPr lang="en-ID" sz="2700" b="1">
              <a:solidFill>
                <a:srgbClr val="F8F9FB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32D7-D9FF-9656-28D8-D750C9B54F8E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Gunakan baseline dan data produksi; hindari mengubah angka pemasaran menjadi klaim hasil tanpa bukti.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48B145-6C92-074B-64DF-5209EC4A98F1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16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8C4AB7-512A-D635-9627-2B3079A13E40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F1C74FA-1AAB-9F6F-3D86-343037D4F392}"/>
              </a:ext>
            </a:extLst>
          </p:cNvPr>
          <p:cNvSpPr/>
          <p:nvPr/>
        </p:nvSpPr>
        <p:spPr>
          <a:xfrm>
            <a:off x="533400" y="2159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D9B09C-419D-5334-3247-3D841DC7B906}"/>
              </a:ext>
            </a:extLst>
          </p:cNvPr>
          <p:cNvSpPr txBox="1"/>
          <p:nvPr/>
        </p:nvSpPr>
        <p:spPr>
          <a:xfrm>
            <a:off x="7366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DD751-77D9-82BE-4BA9-0EB05F7018D3}"/>
              </a:ext>
            </a:extLst>
          </p:cNvPr>
          <p:cNvSpPr txBox="1"/>
          <p:nvPr/>
        </p:nvSpPr>
        <p:spPr>
          <a:xfrm>
            <a:off x="11938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Adopsi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732497-09BA-A02D-118D-AB5D9C969C6C}"/>
              </a:ext>
            </a:extLst>
          </p:cNvPr>
          <p:cNvSpPr txBox="1"/>
          <p:nvPr/>
        </p:nvSpPr>
        <p:spPr>
          <a:xfrm>
            <a:off x="7366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sv-SE" sz="1100">
                <a:solidFill>
                  <a:srgbClr val="AEB5C1"/>
                </a:solidFill>
                <a:latin typeface="Aptos" panose="020B0004020202020204" pitchFamily="34" charset="0"/>
              </a:rPr>
              <a:t>Jumlah siswa aktif, pengguna per role, absensi harian, dan mesin aktif.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137CD70-FEF6-28E3-E894-1FD099D9B77E}"/>
              </a:ext>
            </a:extLst>
          </p:cNvPr>
          <p:cNvSpPr/>
          <p:nvPr/>
        </p:nvSpPr>
        <p:spPr>
          <a:xfrm>
            <a:off x="4381500" y="2159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B885D0-6CE1-F176-3D3A-74E0517B8E44}"/>
              </a:ext>
            </a:extLst>
          </p:cNvPr>
          <p:cNvSpPr txBox="1"/>
          <p:nvPr/>
        </p:nvSpPr>
        <p:spPr>
          <a:xfrm>
            <a:off x="45847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BADD5E-7755-9527-840B-426801C5D16F}"/>
              </a:ext>
            </a:extLst>
          </p:cNvPr>
          <p:cNvSpPr txBox="1"/>
          <p:nvPr/>
        </p:nvSpPr>
        <p:spPr>
          <a:xfrm>
            <a:off x="50419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Keandalan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FCDC9D-6B02-DC7E-8FA3-EEE8E7AF0D7A}"/>
              </a:ext>
            </a:extLst>
          </p:cNvPr>
          <p:cNvSpPr txBox="1"/>
          <p:nvPr/>
        </p:nvSpPr>
        <p:spPr>
          <a:xfrm>
            <a:off x="45847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Uptime API, keberhasilan scan, keterlambatan sinkronisasi, dan error rate perangkat.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49E39F-2805-7496-E41F-7B71CDA033A7}"/>
              </a:ext>
            </a:extLst>
          </p:cNvPr>
          <p:cNvSpPr/>
          <p:nvPr/>
        </p:nvSpPr>
        <p:spPr>
          <a:xfrm>
            <a:off x="8229600" y="2159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9E6C56-4C41-2353-690D-E3E124300758}"/>
              </a:ext>
            </a:extLst>
          </p:cNvPr>
          <p:cNvSpPr txBox="1"/>
          <p:nvPr/>
        </p:nvSpPr>
        <p:spPr>
          <a:xfrm>
            <a:off x="8432800" y="2336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815893-D9C2-E4D4-711C-17269C8BB164}"/>
              </a:ext>
            </a:extLst>
          </p:cNvPr>
          <p:cNvSpPr txBox="1"/>
          <p:nvPr/>
        </p:nvSpPr>
        <p:spPr>
          <a:xfrm>
            <a:off x="8890000" y="2324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Efisiensi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9BE7EB-2155-430E-120F-8D52CB1A9FA3}"/>
              </a:ext>
            </a:extLst>
          </p:cNvPr>
          <p:cNvSpPr txBox="1"/>
          <p:nvPr/>
        </p:nvSpPr>
        <p:spPr>
          <a:xfrm>
            <a:off x="8432800" y="2794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Waktu rekap, waktu koreksi kasus, jumlah proses manual, dan waktu respons petugas.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7E315C-0B7C-AE2B-4313-1802E653A45E}"/>
              </a:ext>
            </a:extLst>
          </p:cNvPr>
          <p:cNvSpPr/>
          <p:nvPr/>
        </p:nvSpPr>
        <p:spPr>
          <a:xfrm>
            <a:off x="533400" y="4191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85DE00-3587-4A9A-C237-534C08B34596}"/>
              </a:ext>
            </a:extLst>
          </p:cNvPr>
          <p:cNvSpPr txBox="1"/>
          <p:nvPr/>
        </p:nvSpPr>
        <p:spPr>
          <a:xfrm>
            <a:off x="736600" y="4368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9297CD-57D2-FDD2-D297-27D56E191BBF}"/>
              </a:ext>
            </a:extLst>
          </p:cNvPr>
          <p:cNvSpPr txBox="1"/>
          <p:nvPr/>
        </p:nvSpPr>
        <p:spPr>
          <a:xfrm>
            <a:off x="1193800" y="4356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Kualitas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E1979C-3A8D-7490-AD27-78E908BFB0A6}"/>
              </a:ext>
            </a:extLst>
          </p:cNvPr>
          <p:cNvSpPr txBox="1"/>
          <p:nvPr/>
        </p:nvSpPr>
        <p:spPr>
          <a:xfrm>
            <a:off x="736600" y="4826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Duplikasi, data tanpa identitas, status tidak konsisten, dan kelengkapan histori.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6DA1862-C4E4-81E3-1C4B-500FB9F0699F}"/>
              </a:ext>
            </a:extLst>
          </p:cNvPr>
          <p:cNvSpPr/>
          <p:nvPr/>
        </p:nvSpPr>
        <p:spPr>
          <a:xfrm>
            <a:off x="4381500" y="4191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C6A7D-57D7-697E-901B-95EDD6B9146E}"/>
              </a:ext>
            </a:extLst>
          </p:cNvPr>
          <p:cNvSpPr txBox="1"/>
          <p:nvPr/>
        </p:nvSpPr>
        <p:spPr>
          <a:xfrm>
            <a:off x="4584700" y="4368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4D2854-354E-9F7F-2B5E-D05AD88E624A}"/>
              </a:ext>
            </a:extLst>
          </p:cNvPr>
          <p:cNvSpPr txBox="1"/>
          <p:nvPr/>
        </p:nvSpPr>
        <p:spPr>
          <a:xfrm>
            <a:off x="5041900" y="4356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Pengalaman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EBA7A-CEBD-9719-09E7-265E9C1608A7}"/>
              </a:ext>
            </a:extLst>
          </p:cNvPr>
          <p:cNvSpPr txBox="1"/>
          <p:nvPr/>
        </p:nvSpPr>
        <p:spPr>
          <a:xfrm>
            <a:off x="4584700" y="4826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>
                <a:solidFill>
                  <a:srgbClr val="AEB5C1"/>
                </a:solidFill>
                <a:latin typeface="Aptos" panose="020B0004020202020204" pitchFamily="34" charset="0"/>
              </a:rPr>
              <a:t>Kecepatan halaman, usability mobile, keberhasilan task, dan dukungan aksesibilitas.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793F617-40A9-C5D7-1E5C-2FAA95B7C668}"/>
              </a:ext>
            </a:extLst>
          </p:cNvPr>
          <p:cNvSpPr/>
          <p:nvPr/>
        </p:nvSpPr>
        <p:spPr>
          <a:xfrm>
            <a:off x="8229600" y="4191000"/>
            <a:ext cx="3429000" cy="16764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FA02B8-1053-719D-F14F-6FD608BA13AB}"/>
              </a:ext>
            </a:extLst>
          </p:cNvPr>
          <p:cNvSpPr txBox="1"/>
          <p:nvPr/>
        </p:nvSpPr>
        <p:spPr>
          <a:xfrm>
            <a:off x="8432800" y="4368800"/>
            <a:ext cx="4318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100" b="1">
                <a:solidFill>
                  <a:srgbClr val="F2C300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1025B5-7223-527F-9F91-E8D0CCC6ADF0}"/>
              </a:ext>
            </a:extLst>
          </p:cNvPr>
          <p:cNvSpPr txBox="1"/>
          <p:nvPr/>
        </p:nvSpPr>
        <p:spPr>
          <a:xfrm>
            <a:off x="8890000" y="4356100"/>
            <a:ext cx="2590800" cy="282129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500" b="1">
                <a:solidFill>
                  <a:srgbClr val="F8F9FB"/>
                </a:solidFill>
                <a:latin typeface="Aptos" panose="020B0004020202020204" pitchFamily="34" charset="0"/>
              </a:rPr>
              <a:t>Governance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D8D32A-0A27-9A65-3E1D-E8E74070147C}"/>
              </a:ext>
            </a:extLst>
          </p:cNvPr>
          <p:cNvSpPr txBox="1"/>
          <p:nvPr/>
        </p:nvSpPr>
        <p:spPr>
          <a:xfrm>
            <a:off x="8432800" y="4826000"/>
            <a:ext cx="3022600" cy="38985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100">
                <a:solidFill>
                  <a:srgbClr val="AEB5C1"/>
                </a:solidFill>
                <a:latin typeface="Aptos" panose="020B0004020202020204" pitchFamily="34" charset="0"/>
              </a:rPr>
              <a:t>Kepatuhan role, audit log, retensi data, backup, dan recovery drill.</a:t>
            </a:r>
            <a:endParaRPr lang="en-ID" sz="11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641812-654D-3FF7-805B-99B42021166B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0BBBBC9-7C32-BD3D-B671-0C06BE027593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17358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AD11D-841D-11CA-26DF-736A482D274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A2608-70A2-4FB6-9D80-310A2484D7E7}"/>
              </a:ext>
            </a:extLst>
          </p:cNvPr>
          <p:cNvSpPr txBox="1"/>
          <p:nvPr/>
        </p:nvSpPr>
        <p:spPr>
          <a:xfrm>
            <a:off x="533400" y="304800"/>
            <a:ext cx="7620000" cy="20518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 b="1">
                <a:solidFill>
                  <a:srgbClr val="F2C300"/>
                </a:solidFill>
                <a:latin typeface="Aptos" panose="020B0004020202020204" pitchFamily="34" charset="0"/>
              </a:rPr>
              <a:t>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26E2AB-DD72-DB6A-97E6-78A73CE8084C}"/>
              </a:ext>
            </a:extLst>
          </p:cNvPr>
          <p:cNvSpPr txBox="1"/>
          <p:nvPr/>
        </p:nvSpPr>
        <p:spPr>
          <a:xfrm>
            <a:off x="508000" y="622300"/>
            <a:ext cx="10795000" cy="466794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700" b="1">
                <a:solidFill>
                  <a:srgbClr val="F8F9FB"/>
                </a:solidFill>
                <a:latin typeface="Aptos" panose="020B0004020202020204" pitchFamily="34" charset="0"/>
              </a:rPr>
              <a:t>Dari platform yang lengkap menuju operasi yang terukur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4E323-DA23-5737-2514-F52087F34A54}"/>
              </a:ext>
            </a:extLst>
          </p:cNvPr>
          <p:cNvSpPr txBox="1"/>
          <p:nvPr/>
        </p:nvSpPr>
        <p:spPr>
          <a:xfrm>
            <a:off x="533400" y="1244600"/>
            <a:ext cx="10795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>
                <a:solidFill>
                  <a:srgbClr val="AEB5C1"/>
                </a:solidFill>
                <a:latin typeface="Aptos" panose="020B0004020202020204" pitchFamily="34" charset="0"/>
              </a:rPr>
              <a:t>Prioritas berikut menjaga perkembangan tetap berbasis bukti dan risiko.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7BBD66-EBA2-3A4A-AAF1-C3C7CAAD0E7D}"/>
              </a:ext>
            </a:extLst>
          </p:cNvPr>
          <p:cNvSpPr txBox="1"/>
          <p:nvPr/>
        </p:nvSpPr>
        <p:spPr>
          <a:xfrm>
            <a:off x="11366500" y="317500"/>
            <a:ext cx="381000" cy="18979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900" b="1">
                <a:solidFill>
                  <a:srgbClr val="AEB5C1"/>
                </a:solidFill>
                <a:latin typeface="Aptos" panose="020B0004020202020204" pitchFamily="34" charset="0"/>
              </a:rPr>
              <a:t>17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0B83A4-2D22-7F40-CEA3-F277F44211FF}"/>
              </a:ext>
            </a:extLst>
          </p:cNvPr>
          <p:cNvCxnSpPr/>
          <p:nvPr/>
        </p:nvCxnSpPr>
        <p:spPr>
          <a:xfrm>
            <a:off x="533400" y="1676400"/>
            <a:ext cx="11125200" cy="0"/>
          </a:xfrm>
          <a:prstGeom prst="line">
            <a:avLst/>
          </a:prstGeom>
          <a:ln w="12700">
            <a:solidFill>
              <a:srgbClr val="1D22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E5223AF-AEA7-631E-3CB0-0B5528EB156A}"/>
              </a:ext>
            </a:extLst>
          </p:cNvPr>
          <p:cNvSpPr/>
          <p:nvPr/>
        </p:nvSpPr>
        <p:spPr>
          <a:xfrm>
            <a:off x="533400" y="2260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A3EDEB-BE58-90CA-C804-941C2F4F255A}"/>
              </a:ext>
            </a:extLst>
          </p:cNvPr>
          <p:cNvSpPr/>
          <p:nvPr/>
        </p:nvSpPr>
        <p:spPr>
          <a:xfrm>
            <a:off x="711200" y="2438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6DF999-389D-6906-920E-68B9FB487CA7}"/>
              </a:ext>
            </a:extLst>
          </p:cNvPr>
          <p:cNvSpPr txBox="1"/>
          <p:nvPr/>
        </p:nvSpPr>
        <p:spPr>
          <a:xfrm>
            <a:off x="711200" y="2489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CC755-82B8-9912-2A55-1BDAAAB9D540}"/>
              </a:ext>
            </a:extLst>
          </p:cNvPr>
          <p:cNvSpPr txBox="1"/>
          <p:nvPr/>
        </p:nvSpPr>
        <p:spPr>
          <a:xfrm>
            <a:off x="1168400" y="2438400"/>
            <a:ext cx="1625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Baseline produksi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55756E-EF9A-0747-4864-D6C3508B5ADC}"/>
              </a:ext>
            </a:extLst>
          </p:cNvPr>
          <p:cNvSpPr txBox="1"/>
          <p:nvPr/>
        </p:nvSpPr>
        <p:spPr>
          <a:xfrm>
            <a:off x="736600" y="2908300"/>
            <a:ext cx="20066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Tetapkan metrik uptime, latency, keberhasilan identifikasi, dan volume per mesin.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1ABAD8-C8DA-42A8-B583-6A7921CC118C}"/>
              </a:ext>
            </a:extLst>
          </p:cNvPr>
          <p:cNvSpPr/>
          <p:nvPr/>
        </p:nvSpPr>
        <p:spPr>
          <a:xfrm>
            <a:off x="3378200" y="2260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FAF5879-3FB7-0B37-F46C-5C1DB65513F4}"/>
              </a:ext>
            </a:extLst>
          </p:cNvPr>
          <p:cNvSpPr/>
          <p:nvPr/>
        </p:nvSpPr>
        <p:spPr>
          <a:xfrm>
            <a:off x="3556000" y="2438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145D20-DF75-9180-3A89-F7666C563449}"/>
              </a:ext>
            </a:extLst>
          </p:cNvPr>
          <p:cNvSpPr txBox="1"/>
          <p:nvPr/>
        </p:nvSpPr>
        <p:spPr>
          <a:xfrm>
            <a:off x="3556000" y="2489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6E4179-86B1-E491-D110-F011387AD740}"/>
              </a:ext>
            </a:extLst>
          </p:cNvPr>
          <p:cNvSpPr txBox="1"/>
          <p:nvPr/>
        </p:nvSpPr>
        <p:spPr>
          <a:xfrm>
            <a:off x="4013200" y="2438400"/>
            <a:ext cx="1625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Data quality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F6DDB0-A17B-D58C-62D6-5760AD2453A8}"/>
              </a:ext>
            </a:extLst>
          </p:cNvPr>
          <p:cNvSpPr txBox="1"/>
          <p:nvPr/>
        </p:nvSpPr>
        <p:spPr>
          <a:xfrm>
            <a:off x="3581400" y="2908300"/>
            <a:ext cx="20066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Dashboard anomali, rekonsiliasi, serta rule koreksi yang terdokumentasi.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B80BC39-EAAA-9329-09C6-A1BEC0FA6DDD}"/>
              </a:ext>
            </a:extLst>
          </p:cNvPr>
          <p:cNvSpPr/>
          <p:nvPr/>
        </p:nvSpPr>
        <p:spPr>
          <a:xfrm>
            <a:off x="6223000" y="2260600"/>
            <a:ext cx="24130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2C2CDD8-1472-E85D-3C24-2B57B21335F9}"/>
              </a:ext>
            </a:extLst>
          </p:cNvPr>
          <p:cNvSpPr/>
          <p:nvPr/>
        </p:nvSpPr>
        <p:spPr>
          <a:xfrm>
            <a:off x="6400800" y="2438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A4391-A0DD-7306-D440-D7BCF521A132}"/>
              </a:ext>
            </a:extLst>
          </p:cNvPr>
          <p:cNvSpPr txBox="1"/>
          <p:nvPr/>
        </p:nvSpPr>
        <p:spPr>
          <a:xfrm>
            <a:off x="6400800" y="2489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2CB116-AEFB-B00D-DEF3-AA5FB446BC44}"/>
              </a:ext>
            </a:extLst>
          </p:cNvPr>
          <p:cNvSpPr txBox="1"/>
          <p:nvPr/>
        </p:nvSpPr>
        <p:spPr>
          <a:xfrm>
            <a:off x="6858000" y="2438400"/>
            <a:ext cx="16256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Security hardening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C424BA-ADBA-FAAC-E062-8E310453C55B}"/>
              </a:ext>
            </a:extLst>
          </p:cNvPr>
          <p:cNvSpPr txBox="1"/>
          <p:nvPr/>
        </p:nvSpPr>
        <p:spPr>
          <a:xfrm>
            <a:off x="6426200" y="2908300"/>
            <a:ext cx="20066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sz="1000">
                <a:solidFill>
                  <a:srgbClr val="AEB5C1"/>
                </a:solidFill>
                <a:latin typeface="Aptos" panose="020B0004020202020204" pitchFamily="34" charset="0"/>
              </a:rPr>
              <a:t>Review role-route, token lifecycle, audit retention, dan backup recovery.</a:t>
            </a:r>
            <a:endParaRPr lang="en-ID" sz="1000">
              <a:solidFill>
                <a:srgbClr val="AEB5C1"/>
              </a:solidFill>
              <a:latin typeface="Aptos" panose="020B000402020202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25A12B0-7121-FD39-3FFF-F62B5849F1DB}"/>
              </a:ext>
            </a:extLst>
          </p:cNvPr>
          <p:cNvSpPr/>
          <p:nvPr/>
        </p:nvSpPr>
        <p:spPr>
          <a:xfrm>
            <a:off x="9067800" y="2260600"/>
            <a:ext cx="2590800" cy="1473200"/>
          </a:xfrm>
          <a:prstGeom prst="roundRect">
            <a:avLst/>
          </a:prstGeom>
          <a:solidFill>
            <a:srgbClr val="151922"/>
          </a:solidFill>
          <a:ln w="12700">
            <a:solidFill>
              <a:srgbClr val="1D222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5DFC661-5CA9-1F96-560A-419182BCF011}"/>
              </a:ext>
            </a:extLst>
          </p:cNvPr>
          <p:cNvSpPr/>
          <p:nvPr/>
        </p:nvSpPr>
        <p:spPr>
          <a:xfrm>
            <a:off x="9245600" y="2438400"/>
            <a:ext cx="355600" cy="3556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D48CFF-4E26-1084-C77F-E1E1EB071A8D}"/>
              </a:ext>
            </a:extLst>
          </p:cNvPr>
          <p:cNvSpPr txBox="1"/>
          <p:nvPr/>
        </p:nvSpPr>
        <p:spPr>
          <a:xfrm>
            <a:off x="9245600" y="24892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000" b="1">
                <a:solidFill>
                  <a:srgbClr val="0B0E1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9AF2AF-E4D4-B055-D76F-F90BE578ECBA}"/>
              </a:ext>
            </a:extLst>
          </p:cNvPr>
          <p:cNvSpPr txBox="1"/>
          <p:nvPr/>
        </p:nvSpPr>
        <p:spPr>
          <a:xfrm>
            <a:off x="9702800" y="2438400"/>
            <a:ext cx="1803400" cy="266740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400" b="1">
                <a:solidFill>
                  <a:srgbClr val="F8F9FB"/>
                </a:solidFill>
                <a:latin typeface="Aptos" panose="020B0004020202020204" pitchFamily="34" charset="0"/>
              </a:rPr>
              <a:t>Gerbang parkir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C9D7FA-B6F7-23A9-6999-B97AF8B501CE}"/>
              </a:ext>
            </a:extLst>
          </p:cNvPr>
          <p:cNvSpPr txBox="1"/>
          <p:nvPr/>
        </p:nvSpPr>
        <p:spPr>
          <a:xfrm>
            <a:off x="9271000" y="2908300"/>
            <a:ext cx="2184400" cy="512961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000">
                <a:solidFill>
                  <a:srgbClr val="AEB5C1"/>
                </a:solidFill>
                <a:latin typeface="Aptos" panose="020B0004020202020204" pitchFamily="34" charset="0"/>
              </a:rPr>
              <a:t>Future plan: gunakan hasil verifikasi untuk mengatur akses gerbang parkir secara terintegrasi.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308AE2-AEC7-C543-CB43-9FEEAB2D8E2C}"/>
              </a:ext>
            </a:extLst>
          </p:cNvPr>
          <p:cNvSpPr/>
          <p:nvPr/>
        </p:nvSpPr>
        <p:spPr>
          <a:xfrm>
            <a:off x="533400" y="4343400"/>
            <a:ext cx="11125200" cy="1308100"/>
          </a:xfrm>
          <a:prstGeom prst="roundRect">
            <a:avLst/>
          </a:prstGeom>
          <a:solidFill>
            <a:srgbClr val="1D22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C15FAF-5344-7AC7-F966-CE2CC63AE447}"/>
              </a:ext>
            </a:extLst>
          </p:cNvPr>
          <p:cNvSpPr txBox="1"/>
          <p:nvPr/>
        </p:nvSpPr>
        <p:spPr>
          <a:xfrm>
            <a:off x="787400" y="4584700"/>
            <a:ext cx="2667000" cy="23596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200" b="1">
                <a:solidFill>
                  <a:srgbClr val="F2C300"/>
                </a:solidFill>
                <a:latin typeface="Aptos" panose="020B0004020202020204" pitchFamily="34" charset="0"/>
              </a:rPr>
              <a:t>Arah pengembangan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983DBE-6B8A-4BE3-A0CA-2052153D0DDC}"/>
              </a:ext>
            </a:extLst>
          </p:cNvPr>
          <p:cNvSpPr txBox="1"/>
          <p:nvPr/>
        </p:nvSpPr>
        <p:spPr>
          <a:xfrm>
            <a:off x="787400" y="4978400"/>
            <a:ext cx="10414000" cy="636072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1900" b="1">
                <a:solidFill>
                  <a:srgbClr val="F8F9FB"/>
                </a:solidFill>
                <a:latin typeface="Aptos" panose="020B0004020202020204" pitchFamily="34" charset="0"/>
              </a:rPr>
              <a:t>Bukan menambah fitur sebanyak mungkin - melainkan membuat setiap data kehadiran semakin cepat, dapat dipercaya, aman, dan berguna.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2997C6-64F3-5010-A34F-F675A1FC5A8F}"/>
              </a:ext>
            </a:extLst>
          </p:cNvPr>
          <p:cNvSpPr txBox="1"/>
          <p:nvPr/>
        </p:nvSpPr>
        <p:spPr>
          <a:xfrm>
            <a:off x="533400" y="6540500"/>
            <a:ext cx="6350000" cy="174407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800">
                <a:solidFill>
                  <a:srgbClr val="AEB5C1"/>
                </a:solidFill>
                <a:latin typeface="Aptos" panose="020B0004020202020204" pitchFamily="34" charset="0"/>
              </a:rPr>
              <a:t>GASKAN | SMTI Yogyakarta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668A59A-E17B-695E-2C9E-5A87A0ADFF6D}"/>
              </a:ext>
            </a:extLst>
          </p:cNvPr>
          <p:cNvSpPr/>
          <p:nvPr/>
        </p:nvSpPr>
        <p:spPr>
          <a:xfrm>
            <a:off x="11480800" y="6553200"/>
            <a:ext cx="88900" cy="88900"/>
          </a:xfrm>
          <a:prstGeom prst="ellipse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89016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DBFC7-766D-C1F2-9B21-C08DC3FDA6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F6195B-5F26-4896-5ACC-9365F420AE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C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50AEF-0953-E657-46A0-C26B35B331F0}"/>
              </a:ext>
            </a:extLst>
          </p:cNvPr>
          <p:cNvSpPr txBox="1"/>
          <p:nvPr/>
        </p:nvSpPr>
        <p:spPr>
          <a:xfrm>
            <a:off x="698500" y="609600"/>
            <a:ext cx="3810000" cy="420628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2400" b="1">
                <a:solidFill>
                  <a:srgbClr val="0B0E14"/>
                </a:solidFill>
                <a:latin typeface="Aptos" panose="020B0004020202020204" pitchFamily="34" charset="0"/>
              </a:rPr>
              <a:t>GASKAN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58D69A-8CE5-0F91-C9E8-57E41141A040}"/>
              </a:ext>
            </a:extLst>
          </p:cNvPr>
          <p:cNvSpPr txBox="1"/>
          <p:nvPr/>
        </p:nvSpPr>
        <p:spPr>
          <a:xfrm>
            <a:off x="685800" y="1917700"/>
            <a:ext cx="10414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3400" b="1">
                <a:solidFill>
                  <a:srgbClr val="0B0E14"/>
                </a:solidFill>
                <a:latin typeface="Aptos" panose="020B0004020202020204" pitchFamily="34" charset="0"/>
              </a:rPr>
              <a:t>Absensi bukan sekadar menekan mesin.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282C8D-E174-B2A0-55AE-4C6146E559D7}"/>
              </a:ext>
            </a:extLst>
          </p:cNvPr>
          <p:cNvSpPr txBox="1"/>
          <p:nvPr/>
        </p:nvSpPr>
        <p:spPr>
          <a:xfrm>
            <a:off x="685800" y="2705100"/>
            <a:ext cx="10414000" cy="574516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ID" sz="3400" b="1">
                <a:solidFill>
                  <a:srgbClr val="0B0E14"/>
                </a:solidFill>
                <a:latin typeface="Aptos" panose="020B0004020202020204" pitchFamily="34" charset="0"/>
              </a:rPr>
              <a:t>Ia adalah awal dari data yang dapat dipercaya.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1601C0-F973-4EB1-38DD-EC266A71DB37}"/>
              </a:ext>
            </a:extLst>
          </p:cNvPr>
          <p:cNvCxnSpPr/>
          <p:nvPr/>
        </p:nvCxnSpPr>
        <p:spPr>
          <a:xfrm>
            <a:off x="736600" y="3937000"/>
            <a:ext cx="1778000" cy="0"/>
          </a:xfrm>
          <a:prstGeom prst="line">
            <a:avLst/>
          </a:prstGeom>
          <a:ln w="63500">
            <a:solidFill>
              <a:srgbClr val="0B0E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8A76DF3-3B84-83A2-67F7-A7F61F3FF68A}"/>
              </a:ext>
            </a:extLst>
          </p:cNvPr>
          <p:cNvSpPr txBox="1"/>
          <p:nvPr/>
        </p:nvSpPr>
        <p:spPr>
          <a:xfrm>
            <a:off x="711200" y="4318000"/>
            <a:ext cx="9652000" cy="328295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r>
              <a:rPr lang="en-US" b="1">
                <a:solidFill>
                  <a:srgbClr val="0B0E14"/>
                </a:solidFill>
                <a:latin typeface="Aptos" panose="020B0004020202020204" pitchFamily="34" charset="0"/>
              </a:rPr>
              <a:t>SCAN &gt; VERIFY &gt; SYNC &gt; UNDERSTAND &gt; ACT</a:t>
            </a:r>
            <a:endParaRPr lang="en-ID" b="1">
              <a:solidFill>
                <a:srgbClr val="0B0E14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324D78-C566-98F7-D956-A77210766A7F}"/>
              </a:ext>
            </a:extLst>
          </p:cNvPr>
          <p:cNvSpPr/>
          <p:nvPr/>
        </p:nvSpPr>
        <p:spPr>
          <a:xfrm>
            <a:off x="711200" y="5308600"/>
            <a:ext cx="3810000" cy="660400"/>
          </a:xfrm>
          <a:prstGeom prst="roundRect">
            <a:avLst/>
          </a:prstGeom>
          <a:solidFill>
            <a:srgbClr val="0B0E1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71F994-9E45-EDA4-6DD8-AE30E19F5AD7}"/>
              </a:ext>
            </a:extLst>
          </p:cNvPr>
          <p:cNvSpPr txBox="1"/>
          <p:nvPr/>
        </p:nvSpPr>
        <p:spPr>
          <a:xfrm>
            <a:off x="711200" y="5511800"/>
            <a:ext cx="381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D" sz="1300" b="1">
                <a:solidFill>
                  <a:srgbClr val="F8F9FB"/>
                </a:solidFill>
                <a:latin typeface="Aptos" panose="020B0004020202020204" pitchFamily="34" charset="0"/>
              </a:rPr>
              <a:t>DEMO &amp; DISKUSI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3F3A3-3D04-FD5E-40B8-8691BDFF2D5F}"/>
              </a:ext>
            </a:extLst>
          </p:cNvPr>
          <p:cNvSpPr txBox="1"/>
          <p:nvPr/>
        </p:nvSpPr>
        <p:spPr>
          <a:xfrm>
            <a:off x="8153400" y="5651500"/>
            <a:ext cx="3302000" cy="220573"/>
          </a:xfrm>
          <a:prstGeom prst="rect">
            <a:avLst/>
          </a:prstGeom>
          <a:noFill/>
        </p:spPr>
        <p:txBody>
          <a:bodyPr vert="horz" wrap="square" lIns="25400" tIns="25400" rIns="25400" bIns="25400" rtlCol="0">
            <a:spAutoFit/>
          </a:bodyPr>
          <a:lstStyle/>
          <a:p>
            <a:pPr algn="r"/>
            <a:r>
              <a:rPr lang="en-ID" sz="1100" b="1">
                <a:solidFill>
                  <a:srgbClr val="0B0E14"/>
                </a:solidFill>
                <a:latin typeface="Aptos" panose="020B0004020202020204" pitchFamily="34" charset="0"/>
              </a:rPr>
              <a:t>gaskan.smtijogja.sch.id</a:t>
            </a:r>
          </a:p>
        </p:txBody>
      </p:sp>
    </p:spTree>
    <p:extLst>
      <p:ext uri="{BB962C8B-B14F-4D97-AF65-F5344CB8AC3E}">
        <p14:creationId xmlns:p14="http://schemas.microsoft.com/office/powerpoint/2010/main" val="741434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1651</Words>
  <Application>Microsoft Office PowerPoint</Application>
  <PresentationFormat>Widescreen</PresentationFormat>
  <Paragraphs>302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 NITRO</dc:creator>
  <cp:lastModifiedBy>ACER NITRO</cp:lastModifiedBy>
  <cp:revision>2</cp:revision>
  <dcterms:created xsi:type="dcterms:W3CDTF">2026-07-24T10:44:06Z</dcterms:created>
  <dcterms:modified xsi:type="dcterms:W3CDTF">2026-07-24T10:48:00Z</dcterms:modified>
</cp:coreProperties>
</file>